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2"/>
  </p:notesMasterIdLst>
  <p:sldIdLst>
    <p:sldId id="256" r:id="rId2"/>
    <p:sldId id="257" r:id="rId3"/>
    <p:sldId id="258" r:id="rId4"/>
    <p:sldId id="270" r:id="rId5"/>
    <p:sldId id="259" r:id="rId6"/>
    <p:sldId id="271" r:id="rId7"/>
    <p:sldId id="272" r:id="rId8"/>
    <p:sldId id="273" r:id="rId9"/>
    <p:sldId id="260" r:id="rId10"/>
    <p:sldId id="262" r:id="rId11"/>
    <p:sldId id="263" r:id="rId12"/>
    <p:sldId id="274" r:id="rId13"/>
    <p:sldId id="275" r:id="rId14"/>
    <p:sldId id="277" r:id="rId15"/>
    <p:sldId id="278" r:id="rId16"/>
    <p:sldId id="276" r:id="rId17"/>
    <p:sldId id="267" r:id="rId18"/>
    <p:sldId id="268" r:id="rId19"/>
    <p:sldId id="279" r:id="rId20"/>
    <p:sldId id="26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4B5E44-F17F-407D-8D6A-C5E00FAB53F5}">
  <a:tblStyle styleId="{F14B5E44-F17F-407D-8D6A-C5E00FAB53F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4" autoAdjust="0"/>
    <p:restoredTop sz="94660"/>
  </p:normalViewPr>
  <p:slideViewPr>
    <p:cSldViewPr snapToGrid="0">
      <p:cViewPr varScale="1">
        <p:scale>
          <a:sx n="75" d="100"/>
          <a:sy n="75" d="100"/>
        </p:scale>
        <p:origin x="72"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77BDE55-8616-1363-A58D-5E6E1379D9C9}"/>
            </a:ext>
          </a:extLst>
        </p:cNvPr>
        <p:cNvGrpSpPr/>
        <p:nvPr/>
      </p:nvGrpSpPr>
      <p:grpSpPr>
        <a:xfrm>
          <a:off x="0" y="0"/>
          <a:ext cx="0" cy="0"/>
          <a:chOff x="0" y="0"/>
          <a:chExt cx="0" cy="0"/>
        </a:xfrm>
      </p:grpSpPr>
      <p:sp>
        <p:nvSpPr>
          <p:cNvPr id="115" name="Google Shape;115;p3:notes">
            <a:extLst>
              <a:ext uri="{FF2B5EF4-FFF2-40B4-BE49-F238E27FC236}">
                <a16:creationId xmlns:a16="http://schemas.microsoft.com/office/drawing/2014/main" id="{766A6052-6BB5-5D5B-F592-2F7A737288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a:extLst>
              <a:ext uri="{FF2B5EF4-FFF2-40B4-BE49-F238E27FC236}">
                <a16:creationId xmlns:a16="http://schemas.microsoft.com/office/drawing/2014/main" id="{5D733CD9-C5CA-AADD-3B8C-A7CDB64B9B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19998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9F37FAFB-FB28-9353-1531-FD20FFED75D0}"/>
            </a:ext>
          </a:extLst>
        </p:cNvPr>
        <p:cNvGrpSpPr/>
        <p:nvPr/>
      </p:nvGrpSpPr>
      <p:grpSpPr>
        <a:xfrm>
          <a:off x="0" y="0"/>
          <a:ext cx="0" cy="0"/>
          <a:chOff x="0" y="0"/>
          <a:chExt cx="0" cy="0"/>
        </a:xfrm>
      </p:grpSpPr>
      <p:sp>
        <p:nvSpPr>
          <p:cNvPr id="124" name="Google Shape;124;p4:notes">
            <a:extLst>
              <a:ext uri="{FF2B5EF4-FFF2-40B4-BE49-F238E27FC236}">
                <a16:creationId xmlns:a16="http://schemas.microsoft.com/office/drawing/2014/main" id="{BD4BD048-D0DC-B6C9-6179-0FEAEC6338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a:extLst>
              <a:ext uri="{FF2B5EF4-FFF2-40B4-BE49-F238E27FC236}">
                <a16:creationId xmlns:a16="http://schemas.microsoft.com/office/drawing/2014/main" id="{BF1435CB-EF7B-7C12-2F11-65F7B985AF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4742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BD546211-B759-FB2F-E6D4-AD519C16B334}"/>
            </a:ext>
          </a:extLst>
        </p:cNvPr>
        <p:cNvGrpSpPr/>
        <p:nvPr/>
      </p:nvGrpSpPr>
      <p:grpSpPr>
        <a:xfrm>
          <a:off x="0" y="0"/>
          <a:ext cx="0" cy="0"/>
          <a:chOff x="0" y="0"/>
          <a:chExt cx="0" cy="0"/>
        </a:xfrm>
      </p:grpSpPr>
      <p:sp>
        <p:nvSpPr>
          <p:cNvPr id="124" name="Google Shape;124;p4:notes">
            <a:extLst>
              <a:ext uri="{FF2B5EF4-FFF2-40B4-BE49-F238E27FC236}">
                <a16:creationId xmlns:a16="http://schemas.microsoft.com/office/drawing/2014/main" id="{6405D6C2-2FC0-B5F4-B689-0F446F696A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a:extLst>
              <a:ext uri="{FF2B5EF4-FFF2-40B4-BE49-F238E27FC236}">
                <a16:creationId xmlns:a16="http://schemas.microsoft.com/office/drawing/2014/main" id="{425FF2DB-7652-FF58-3774-E7F0E3AA5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86062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010A3433-E1B9-8B28-D54A-98938B002CBD}"/>
            </a:ext>
          </a:extLst>
        </p:cNvPr>
        <p:cNvGrpSpPr/>
        <p:nvPr/>
      </p:nvGrpSpPr>
      <p:grpSpPr>
        <a:xfrm>
          <a:off x="0" y="0"/>
          <a:ext cx="0" cy="0"/>
          <a:chOff x="0" y="0"/>
          <a:chExt cx="0" cy="0"/>
        </a:xfrm>
      </p:grpSpPr>
      <p:sp>
        <p:nvSpPr>
          <p:cNvPr id="124" name="Google Shape;124;p4:notes">
            <a:extLst>
              <a:ext uri="{FF2B5EF4-FFF2-40B4-BE49-F238E27FC236}">
                <a16:creationId xmlns:a16="http://schemas.microsoft.com/office/drawing/2014/main" id="{AFD08C46-D863-EFE3-14F8-A20925F6DFA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a:extLst>
              <a:ext uri="{FF2B5EF4-FFF2-40B4-BE49-F238E27FC236}">
                <a16:creationId xmlns:a16="http://schemas.microsoft.com/office/drawing/2014/main" id="{66ACAB1C-FAB8-655E-D306-99570579F8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46596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8360c7d11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8360c7d11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1FB14F2-6B2C-22A8-6885-B902E09DE74F}"/>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72D56D7F-1F8B-2BA5-3256-034AD7C530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125152B2-4083-8221-D16B-315F7AFE02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99388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34617D26-F818-815B-F4A6-1F51ABA65747}"/>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E40A0731-BED0-C2EC-F8A4-EF6569E640A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BAC56B7F-1174-E3FA-7A82-41D72A4109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198122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DEDDCB1A-C17D-EEF9-2681-3B4AF9A33710}"/>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93F7708B-5D4B-B164-989E-0341FE1E30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DBD13048-9752-63CA-7417-237BD34FAD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1236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4778221-9B25-F401-5631-BED5D0D39D5F}"/>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730EF666-C287-C17C-11A3-CC62947004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43E870D7-7A6B-3052-73A7-9DF4E9FA72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3082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F1CDFB44-8403-EA0C-01A0-81E709112681}"/>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8C8FF957-D8C9-45C0-E69C-71494E207B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DD6DB47A-0B18-9F05-A29E-BD200F47B6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0317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a8360c7d11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g3a8360c7d11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B75FC8D6-84FD-F049-62B3-671795BD8AFF}"/>
            </a:ext>
          </a:extLst>
        </p:cNvPr>
        <p:cNvGrpSpPr/>
        <p:nvPr/>
      </p:nvGrpSpPr>
      <p:grpSpPr>
        <a:xfrm>
          <a:off x="0" y="0"/>
          <a:ext cx="0" cy="0"/>
          <a:chOff x="0" y="0"/>
          <a:chExt cx="0" cy="0"/>
        </a:xfrm>
      </p:grpSpPr>
      <p:sp>
        <p:nvSpPr>
          <p:cNvPr id="206" name="Google Shape;206;p13:notes">
            <a:extLst>
              <a:ext uri="{FF2B5EF4-FFF2-40B4-BE49-F238E27FC236}">
                <a16:creationId xmlns:a16="http://schemas.microsoft.com/office/drawing/2014/main" id="{A8192C7A-AED7-944A-CC34-2798B4C2D4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3:notes">
            <a:extLst>
              <a:ext uri="{FF2B5EF4-FFF2-40B4-BE49-F238E27FC236}">
                <a16:creationId xmlns:a16="http://schemas.microsoft.com/office/drawing/2014/main" id="{E641D493-AAE8-565A-DB88-D2CCB57404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57487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3"/>
          <p:cNvSpPr/>
          <p:nvPr/>
        </p:nvSpPr>
        <p:spPr>
          <a:xfrm>
            <a:off x="0" y="6176963"/>
            <a:ext cx="12192000" cy="681037"/>
          </a:xfrm>
          <a:prstGeom prst="rect">
            <a:avLst/>
          </a:prstGeom>
          <a:solidFill>
            <a:srgbClr val="00359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881" b="0" i="0" u="none" strike="noStrike" cap="none">
              <a:solidFill>
                <a:schemeClr val="lt1"/>
              </a:solidFill>
              <a:latin typeface="Calibri"/>
              <a:ea typeface="Calibri"/>
              <a:cs typeface="Calibri"/>
              <a:sym typeface="Calibri"/>
            </a:endParaRPr>
          </a:p>
        </p:txBody>
      </p:sp>
      <p:sp>
        <p:nvSpPr>
          <p:cNvPr id="23" name="Google Shape;23;p3"/>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471055" y="1575591"/>
            <a:ext cx="11314545"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a:ea typeface="Calibri"/>
                <a:cs typeface="Calibri"/>
                <a:sym typeface="Calibri"/>
              </a:defRPr>
            </a:lvl1pPr>
            <a:lvl2pPr marL="0" lvl="1" indent="0" algn="r">
              <a:spcBef>
                <a:spcPts val="0"/>
              </a:spcBef>
              <a:buNone/>
              <a:defRPr sz="1200" b="0" i="0" u="none" strike="noStrike" cap="none">
                <a:solidFill>
                  <a:schemeClr val="lt1"/>
                </a:solidFill>
                <a:latin typeface="Calibri"/>
                <a:ea typeface="Calibri"/>
                <a:cs typeface="Calibri"/>
                <a:sym typeface="Calibri"/>
              </a:defRPr>
            </a:lvl2pPr>
            <a:lvl3pPr marL="0" lvl="2" indent="0" algn="r">
              <a:spcBef>
                <a:spcPts val="0"/>
              </a:spcBef>
              <a:buNone/>
              <a:defRPr sz="1200" b="0" i="0" u="none" strike="noStrike" cap="none">
                <a:solidFill>
                  <a:schemeClr val="lt1"/>
                </a:solidFill>
                <a:latin typeface="Calibri"/>
                <a:ea typeface="Calibri"/>
                <a:cs typeface="Calibri"/>
                <a:sym typeface="Calibri"/>
              </a:defRPr>
            </a:lvl3pPr>
            <a:lvl4pPr marL="0" lvl="3" indent="0" algn="r">
              <a:spcBef>
                <a:spcPts val="0"/>
              </a:spcBef>
              <a:buNone/>
              <a:defRPr sz="1200" b="0" i="0" u="none" strike="noStrike" cap="none">
                <a:solidFill>
                  <a:schemeClr val="lt1"/>
                </a:solidFill>
                <a:latin typeface="Calibri"/>
                <a:ea typeface="Calibri"/>
                <a:cs typeface="Calibri"/>
                <a:sym typeface="Calibri"/>
              </a:defRPr>
            </a:lvl4pPr>
            <a:lvl5pPr marL="0" lvl="4" indent="0" algn="r">
              <a:spcBef>
                <a:spcPts val="0"/>
              </a:spcBef>
              <a:buNone/>
              <a:defRPr sz="1200" b="0" i="0" u="none" strike="noStrike" cap="none">
                <a:solidFill>
                  <a:schemeClr val="lt1"/>
                </a:solidFill>
                <a:latin typeface="Calibri"/>
                <a:ea typeface="Calibri"/>
                <a:cs typeface="Calibri"/>
                <a:sym typeface="Calibri"/>
              </a:defRPr>
            </a:lvl5pPr>
            <a:lvl6pPr marL="0" lvl="5" indent="0" algn="r">
              <a:spcBef>
                <a:spcPts val="0"/>
              </a:spcBef>
              <a:buNone/>
              <a:defRPr sz="1200" b="0" i="0" u="none" strike="noStrike" cap="none">
                <a:solidFill>
                  <a:schemeClr val="lt1"/>
                </a:solidFill>
                <a:latin typeface="Calibri"/>
                <a:ea typeface="Calibri"/>
                <a:cs typeface="Calibri"/>
                <a:sym typeface="Calibri"/>
              </a:defRPr>
            </a:lvl6pPr>
            <a:lvl7pPr marL="0" lvl="6" indent="0" algn="r">
              <a:spcBef>
                <a:spcPts val="0"/>
              </a:spcBef>
              <a:buNone/>
              <a:defRPr sz="1200" b="0" i="0" u="none" strike="noStrike" cap="none">
                <a:solidFill>
                  <a:schemeClr val="lt1"/>
                </a:solidFill>
                <a:latin typeface="Calibri"/>
                <a:ea typeface="Calibri"/>
                <a:cs typeface="Calibri"/>
                <a:sym typeface="Calibri"/>
              </a:defRPr>
            </a:lvl7pPr>
            <a:lvl8pPr marL="0" lvl="7" indent="0" algn="r">
              <a:spcBef>
                <a:spcPts val="0"/>
              </a:spcBef>
              <a:buNone/>
              <a:defRPr sz="1200" b="0" i="0" u="none" strike="noStrike" cap="none">
                <a:solidFill>
                  <a:schemeClr val="lt1"/>
                </a:solidFill>
                <a:latin typeface="Calibri"/>
                <a:ea typeface="Calibri"/>
                <a:cs typeface="Calibri"/>
                <a:sym typeface="Calibri"/>
              </a:defRPr>
            </a:lvl8pPr>
            <a:lvl9pPr marL="0" lvl="8" indent="0" algn="r">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28" name="Google Shape;28;p3"/>
          <p:cNvSpPr txBox="1"/>
          <p:nvPr/>
        </p:nvSpPr>
        <p:spPr>
          <a:xfrm>
            <a:off x="625763" y="-2"/>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Calibri"/>
              <a:buNone/>
            </a:pPr>
            <a:r>
              <a:rPr lang="en-IN" sz="4400" b="0" i="0" u="none" strike="noStrike" cap="none">
                <a:solidFill>
                  <a:schemeClr val="lt1"/>
                </a:solidFill>
                <a:latin typeface="Calibri"/>
                <a:ea typeface="Calibri"/>
                <a:cs typeface="Calibri"/>
                <a:sym typeface="Calibri"/>
              </a:rPr>
              <a:t>Click to edit Master title style</a:t>
            </a:r>
            <a:endParaRPr sz="4400" b="0" i="0" u="none" strike="noStrike" cap="none">
              <a:solidFill>
                <a:schemeClr val="lt1"/>
              </a:solidFill>
              <a:latin typeface="Calibri"/>
              <a:ea typeface="Calibri"/>
              <a:cs typeface="Calibri"/>
              <a:sym typeface="Calibri"/>
            </a:endParaRPr>
          </a:p>
        </p:txBody>
      </p:sp>
      <p:sp>
        <p:nvSpPr>
          <p:cNvPr id="29" name="Google Shape;29;p3"/>
          <p:cNvSpPr/>
          <p:nvPr/>
        </p:nvSpPr>
        <p:spPr>
          <a:xfrm>
            <a:off x="0" y="-1"/>
            <a:ext cx="12192000" cy="1325563"/>
          </a:xfrm>
          <a:prstGeom prst="rect">
            <a:avLst/>
          </a:prstGeom>
          <a:solidFill>
            <a:srgbClr val="00359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881"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2">
            <a:alphaModFix/>
          </a:blip>
          <a:srcRect/>
          <a:stretch/>
        </p:blipFill>
        <p:spPr>
          <a:xfrm>
            <a:off x="6845300" y="-460034"/>
            <a:ext cx="6096000" cy="213105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2" name="Google Shape;72;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machinelearning.apple.com/research/breaking-down,%202024" TargetMode="External"/><Relationship Id="rId7" Type="http://schemas.openxmlformats.org/officeDocument/2006/relationships/hyperlink" Target="https://arxiv.org/abs/2407.15754"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arxiv.org/abs/2411.04998" TargetMode="External"/><Relationship Id="rId5" Type="http://schemas.openxmlformats.org/officeDocument/2006/relationships/hyperlink" Target="https://sciety.org/articles/activity/10.31219/osf.io/jvgc5_v2" TargetMode="External"/><Relationship Id="rId4" Type="http://schemas.openxmlformats.org/officeDocument/2006/relationships/hyperlink" Target="https://zenodo.org/records/13269298"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407.15754" TargetMode="External"/><Relationship Id="rId7" Type="http://schemas.openxmlformats.org/officeDocument/2006/relationships/hyperlink" Target="https://arxiv.org/abs/2307.01945"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arxiv.org/abs/2104.05938" TargetMode="External"/><Relationship Id="rId5" Type="http://schemas.openxmlformats.org/officeDocument/2006/relationships/hyperlink" Target="https://arxiv.org/abs/2604.17052" TargetMode="External"/><Relationship Id="rId4" Type="http://schemas.openxmlformats.org/officeDocument/2006/relationships/hyperlink" Target="https://aclanthology.org/2025.acl-long.753/"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48550/arXiv.2404.03398"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arxiv.org/abs/2410.14087" TargetMode="External"/><Relationship Id="rId5" Type="http://schemas.openxmlformats.org/officeDocument/2006/relationships/hyperlink" Target="https://arxiv.org/abs/1605.08110" TargetMode="External"/><Relationship Id="rId4" Type="http://schemas.openxmlformats.org/officeDocument/2006/relationships/hyperlink" Target="https://www.microsoft.com/en-us/research/publication/train-short-infer-long-speech-llm-enables-zero-shot-streamable-joint-asr-and-diarization-on-long-audio"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ctrTitle"/>
          </p:nvPr>
        </p:nvSpPr>
        <p:spPr>
          <a:xfrm>
            <a:off x="1523999" y="1273386"/>
            <a:ext cx="9144000" cy="642600"/>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chemeClr val="lt1"/>
              </a:buClr>
              <a:buSzPts val="3200"/>
              <a:buFont typeface="Calibri"/>
              <a:buNone/>
            </a:pPr>
            <a:r>
              <a:rPr lang="en-IN" sz="3200" b="1">
                <a:solidFill>
                  <a:schemeClr val="lt1"/>
                </a:solidFill>
              </a:rPr>
              <a:t>Department of Information Science and Engineering</a:t>
            </a:r>
            <a:endParaRPr sz="3200" b="1">
              <a:solidFill>
                <a:schemeClr val="lt1"/>
              </a:solidFill>
            </a:endParaRPr>
          </a:p>
        </p:txBody>
      </p:sp>
      <p:sp>
        <p:nvSpPr>
          <p:cNvPr id="93" name="Google Shape;93;p13"/>
          <p:cNvSpPr txBox="1">
            <a:spLocks noGrp="1"/>
          </p:cNvSpPr>
          <p:nvPr>
            <p:ph type="subTitle" idx="1"/>
          </p:nvPr>
        </p:nvSpPr>
        <p:spPr>
          <a:xfrm>
            <a:off x="106225" y="2788204"/>
            <a:ext cx="11979600" cy="523200"/>
          </a:xfrm>
          <a:prstGeom prst="rect">
            <a:avLst/>
          </a:prstGeom>
          <a:noFill/>
          <a:ln>
            <a:noFill/>
          </a:ln>
        </p:spPr>
        <p:txBody>
          <a:bodyPr spcFirstLastPara="1" wrap="square" lIns="91425" tIns="45700" rIns="91425" bIns="45700" anchor="t" anchorCtr="0">
            <a:normAutofit fontScale="85000" lnSpcReduction="10000"/>
          </a:bodyPr>
          <a:lstStyle/>
          <a:p>
            <a:pPr marL="0" lvl="0" indent="0" algn="ctr" rtl="0">
              <a:lnSpc>
                <a:spcPct val="150000"/>
              </a:lnSpc>
              <a:spcBef>
                <a:spcPts val="0"/>
              </a:spcBef>
              <a:spcAft>
                <a:spcPts val="0"/>
              </a:spcAft>
              <a:buClr>
                <a:srgbClr val="00359E"/>
              </a:buClr>
              <a:buSzPts val="4400"/>
              <a:buNone/>
            </a:pPr>
            <a:r>
              <a:rPr lang="en-US" dirty="0">
                <a:latin typeface="Times New Roman" panose="02020603050405020304" pitchFamily="18" charset="0"/>
                <a:cs typeface="Times New Roman" panose="02020603050405020304" pitchFamily="18" charset="0"/>
              </a:rPr>
              <a:t>O.A.S.I.S: Open-Source Audio-Visual Summarization and Insight System</a:t>
            </a:r>
            <a:endParaRPr lang="en-IN" dirty="0">
              <a:latin typeface="Times New Roman" panose="02020603050405020304" pitchFamily="18" charset="0"/>
              <a:ea typeface="Times New Roman"/>
              <a:cs typeface="Times New Roman" panose="02020603050405020304" pitchFamily="18" charset="0"/>
              <a:sym typeface="Times New Roman"/>
            </a:endParaRPr>
          </a:p>
        </p:txBody>
      </p:sp>
      <p:pic>
        <p:nvPicPr>
          <p:cNvPr id="94" name="Google Shape;94;p13"/>
          <p:cNvPicPr preferRelativeResize="0"/>
          <p:nvPr/>
        </p:nvPicPr>
        <p:blipFill rotWithShape="1">
          <a:blip r:embed="rId3">
            <a:alphaModFix/>
          </a:blip>
          <a:srcRect/>
          <a:stretch/>
        </p:blipFill>
        <p:spPr>
          <a:xfrm>
            <a:off x="2342645" y="209550"/>
            <a:ext cx="7506711" cy="955849"/>
          </a:xfrm>
          <a:prstGeom prst="rect">
            <a:avLst/>
          </a:prstGeom>
          <a:noFill/>
          <a:ln>
            <a:noFill/>
          </a:ln>
        </p:spPr>
      </p:pic>
      <p:sp>
        <p:nvSpPr>
          <p:cNvPr id="95" name="Google Shape;95;p13"/>
          <p:cNvSpPr/>
          <p:nvPr/>
        </p:nvSpPr>
        <p:spPr>
          <a:xfrm>
            <a:off x="0" y="-1"/>
            <a:ext cx="12192000" cy="2050500"/>
          </a:xfrm>
          <a:prstGeom prst="rect">
            <a:avLst/>
          </a:prstGeom>
          <a:solidFill>
            <a:srgbClr val="00359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881" b="0" i="0" u="none" strike="noStrike" cap="none">
              <a:solidFill>
                <a:schemeClr val="lt1"/>
              </a:solidFill>
              <a:latin typeface="Calibri"/>
              <a:ea typeface="Calibri"/>
              <a:cs typeface="Calibri"/>
              <a:sym typeface="Calibri"/>
            </a:endParaRPr>
          </a:p>
        </p:txBody>
      </p:sp>
      <p:pic>
        <p:nvPicPr>
          <p:cNvPr id="96" name="Google Shape;96;p13"/>
          <p:cNvPicPr preferRelativeResize="0"/>
          <p:nvPr/>
        </p:nvPicPr>
        <p:blipFill rotWithShape="1">
          <a:blip r:embed="rId4">
            <a:alphaModFix/>
          </a:blip>
          <a:srcRect/>
          <a:stretch/>
        </p:blipFill>
        <p:spPr>
          <a:xfrm>
            <a:off x="106218" y="-1545182"/>
            <a:ext cx="12085781" cy="4262112"/>
          </a:xfrm>
          <a:prstGeom prst="rect">
            <a:avLst/>
          </a:prstGeom>
          <a:noFill/>
          <a:ln>
            <a:noFill/>
          </a:ln>
        </p:spPr>
      </p:pic>
      <p:sp>
        <p:nvSpPr>
          <p:cNvPr id="97" name="Google Shape;97;p13"/>
          <p:cNvSpPr/>
          <p:nvPr/>
        </p:nvSpPr>
        <p:spPr>
          <a:xfrm>
            <a:off x="0" y="6195250"/>
            <a:ext cx="12192000" cy="1110600"/>
          </a:xfrm>
          <a:prstGeom prst="rect">
            <a:avLst/>
          </a:prstGeom>
          <a:solidFill>
            <a:srgbClr val="00359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881" b="0" i="0" u="none" strike="noStrike" cap="none">
              <a:solidFill>
                <a:schemeClr val="lt1"/>
              </a:solidFill>
              <a:latin typeface="Calibri"/>
              <a:ea typeface="Calibri"/>
              <a:cs typeface="Calibri"/>
              <a:sym typeface="Calibri"/>
            </a:endParaRPr>
          </a:p>
        </p:txBody>
      </p:sp>
      <p:sp>
        <p:nvSpPr>
          <p:cNvPr id="98" name="Google Shape;98;p13"/>
          <p:cNvSpPr txBox="1"/>
          <p:nvPr/>
        </p:nvSpPr>
        <p:spPr>
          <a:xfrm>
            <a:off x="1206449" y="6437454"/>
            <a:ext cx="9779100" cy="538800"/>
          </a:xfrm>
          <a:prstGeom prst="rect">
            <a:avLst/>
          </a:prstGeom>
          <a:noFill/>
          <a:ln>
            <a:noFill/>
          </a:ln>
        </p:spPr>
        <p:txBody>
          <a:bodyPr spcFirstLastPara="1" wrap="square" lIns="91425" tIns="45700" rIns="91425" bIns="45700" anchor="t" anchorCtr="0">
            <a:spAutoFit/>
          </a:bodyPr>
          <a:lstStyle/>
          <a:p>
            <a:pPr marL="457200" marR="0" lvl="0" indent="0" algn="ctr" rtl="0">
              <a:spcBef>
                <a:spcPts val="0"/>
              </a:spcBef>
              <a:spcAft>
                <a:spcPts val="0"/>
              </a:spcAft>
              <a:buNone/>
            </a:pPr>
            <a:r>
              <a:rPr lang="en-IN" sz="2900" b="1" dirty="0">
                <a:solidFill>
                  <a:schemeClr val="lt1"/>
                </a:solidFill>
                <a:latin typeface="Times New Roman"/>
                <a:ea typeface="Times New Roman"/>
                <a:cs typeface="Times New Roman"/>
                <a:sym typeface="Times New Roman"/>
              </a:rPr>
              <a:t>June 04, 2026</a:t>
            </a:r>
            <a:endParaRPr sz="1100" dirty="0">
              <a:latin typeface="Times New Roman"/>
              <a:ea typeface="Times New Roman"/>
              <a:cs typeface="Times New Roman"/>
              <a:sym typeface="Times New Roman"/>
            </a:endParaRPr>
          </a:p>
        </p:txBody>
      </p:sp>
      <p:sp>
        <p:nvSpPr>
          <p:cNvPr id="99" name="Google Shape;99;p13"/>
          <p:cNvSpPr txBox="1"/>
          <p:nvPr/>
        </p:nvSpPr>
        <p:spPr>
          <a:xfrm>
            <a:off x="106217" y="1216211"/>
            <a:ext cx="119796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i="0" u="none" strike="noStrike" cap="none" dirty="0">
                <a:solidFill>
                  <a:schemeClr val="lt1"/>
                </a:solidFill>
                <a:latin typeface="Times New Roman"/>
                <a:ea typeface="Times New Roman"/>
                <a:cs typeface="Times New Roman"/>
                <a:sym typeface="Times New Roman"/>
              </a:rPr>
              <a:t>Department of Information Science </a:t>
            </a:r>
            <a:r>
              <a:rPr lang="en-IN" sz="2800" b="1" dirty="0">
                <a:solidFill>
                  <a:schemeClr val="lt1"/>
                </a:solidFill>
                <a:latin typeface="Times New Roman"/>
                <a:ea typeface="Times New Roman"/>
                <a:cs typeface="Times New Roman"/>
                <a:sym typeface="Times New Roman"/>
              </a:rPr>
              <a:t>&amp; </a:t>
            </a:r>
            <a:r>
              <a:rPr lang="en-IN" sz="2800" b="1" i="0" u="none" strike="noStrike" cap="none" dirty="0">
                <a:solidFill>
                  <a:schemeClr val="lt1"/>
                </a:solidFill>
                <a:latin typeface="Times New Roman"/>
                <a:ea typeface="Times New Roman"/>
                <a:cs typeface="Times New Roman"/>
                <a:sym typeface="Times New Roman"/>
              </a:rPr>
              <a:t>Engineering</a:t>
            </a:r>
            <a:endParaRPr sz="2800" b="1" i="0" u="none" strike="noStrike" cap="none" dirty="0">
              <a:solidFill>
                <a:schemeClr val="lt1"/>
              </a:solidFill>
              <a:latin typeface="Times New Roman"/>
              <a:ea typeface="Times New Roman"/>
              <a:cs typeface="Times New Roman"/>
              <a:sym typeface="Times New Roman"/>
            </a:endParaRPr>
          </a:p>
        </p:txBody>
      </p:sp>
      <p:sp>
        <p:nvSpPr>
          <p:cNvPr id="100" name="Google Shape;100;p13"/>
          <p:cNvSpPr txBox="1"/>
          <p:nvPr/>
        </p:nvSpPr>
        <p:spPr>
          <a:xfrm>
            <a:off x="53113" y="2241904"/>
            <a:ext cx="121920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800" b="1" dirty="0">
                <a:solidFill>
                  <a:schemeClr val="dk1"/>
                </a:solidFill>
                <a:latin typeface="Times New Roman"/>
                <a:ea typeface="Times New Roman"/>
                <a:cs typeface="Times New Roman"/>
                <a:sym typeface="Times New Roman"/>
              </a:rPr>
              <a:t>Major Project Phase 01 – Review</a:t>
            </a:r>
            <a:endParaRPr dirty="0">
              <a:latin typeface="Times New Roman"/>
              <a:ea typeface="Times New Roman"/>
              <a:cs typeface="Times New Roman"/>
              <a:sym typeface="Times New Roman"/>
            </a:endParaRPr>
          </a:p>
        </p:txBody>
      </p:sp>
      <p:sp>
        <p:nvSpPr>
          <p:cNvPr id="101" name="Google Shape;101;p13"/>
          <p:cNvSpPr txBox="1"/>
          <p:nvPr/>
        </p:nvSpPr>
        <p:spPr>
          <a:xfrm>
            <a:off x="503675" y="3721475"/>
            <a:ext cx="4359600" cy="354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700" b="1" i="0" u="none" strike="noStrike" cap="none">
                <a:solidFill>
                  <a:schemeClr val="dk1"/>
                </a:solidFill>
                <a:latin typeface="Times New Roman"/>
                <a:ea typeface="Times New Roman"/>
                <a:cs typeface="Times New Roman"/>
                <a:sym typeface="Times New Roman"/>
              </a:rPr>
              <a:t>Project Batch</a:t>
            </a:r>
            <a:r>
              <a:rPr lang="en-IN" sz="1700" b="1">
                <a:solidFill>
                  <a:schemeClr val="dk1"/>
                </a:solidFill>
                <a:latin typeface="Times New Roman"/>
                <a:ea typeface="Times New Roman"/>
                <a:cs typeface="Times New Roman"/>
                <a:sym typeface="Times New Roman"/>
              </a:rPr>
              <a:t> - 007</a:t>
            </a:r>
            <a:endParaRPr sz="1700" b="1">
              <a:solidFill>
                <a:schemeClr val="dk1"/>
              </a:solidFill>
              <a:latin typeface="Times New Roman"/>
              <a:ea typeface="Times New Roman"/>
              <a:cs typeface="Times New Roman"/>
              <a:sym typeface="Times New Roman"/>
            </a:endParaRPr>
          </a:p>
        </p:txBody>
      </p:sp>
      <p:sp>
        <p:nvSpPr>
          <p:cNvPr id="102" name="Google Shape;102;p13"/>
          <p:cNvSpPr txBox="1"/>
          <p:nvPr/>
        </p:nvSpPr>
        <p:spPr>
          <a:xfrm>
            <a:off x="7495227" y="4295526"/>
            <a:ext cx="45906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i="0" u="none" strike="noStrike" cap="none">
                <a:solidFill>
                  <a:schemeClr val="dk1"/>
                </a:solidFill>
                <a:latin typeface="Times New Roman"/>
                <a:ea typeface="Times New Roman"/>
                <a:cs typeface="Times New Roman"/>
                <a:sym typeface="Times New Roman"/>
              </a:rPr>
              <a:t>Guide Name, and Designation</a:t>
            </a:r>
            <a:endParaRPr>
              <a:latin typeface="Times New Roman"/>
              <a:ea typeface="Times New Roman"/>
              <a:cs typeface="Times New Roman"/>
              <a:sym typeface="Times New Roman"/>
            </a:endParaRPr>
          </a:p>
        </p:txBody>
      </p:sp>
      <p:sp>
        <p:nvSpPr>
          <p:cNvPr id="103" name="Google Shape;103;p13"/>
          <p:cNvSpPr txBox="1"/>
          <p:nvPr/>
        </p:nvSpPr>
        <p:spPr>
          <a:xfrm>
            <a:off x="7610725" y="4664833"/>
            <a:ext cx="43596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dirty="0">
                <a:solidFill>
                  <a:schemeClr val="dk1"/>
                </a:solidFill>
                <a:latin typeface="Times New Roman"/>
                <a:ea typeface="Times New Roman"/>
                <a:cs typeface="Times New Roman"/>
                <a:sym typeface="Times New Roman"/>
              </a:rPr>
              <a:t>Mr. Prashanth BS, Assistant Professor</a:t>
            </a:r>
            <a:endParaRPr sz="1800" b="1"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1800" b="1" dirty="0">
                <a:solidFill>
                  <a:schemeClr val="dk1"/>
                </a:solidFill>
                <a:latin typeface="Times New Roman"/>
                <a:ea typeface="Times New Roman"/>
                <a:cs typeface="Times New Roman"/>
                <a:sym typeface="Times New Roman"/>
              </a:rPr>
              <a:t>Dept. of IS&amp;E</a:t>
            </a:r>
            <a:endParaRPr sz="1800" b="1" dirty="0">
              <a:solidFill>
                <a:schemeClr val="dk1"/>
              </a:solidFill>
              <a:latin typeface="Times New Roman"/>
              <a:ea typeface="Times New Roman"/>
              <a:cs typeface="Times New Roman"/>
              <a:sym typeface="Times New Roman"/>
            </a:endParaRPr>
          </a:p>
        </p:txBody>
      </p:sp>
      <p:graphicFrame>
        <p:nvGraphicFramePr>
          <p:cNvPr id="104" name="Google Shape;104;p13"/>
          <p:cNvGraphicFramePr/>
          <p:nvPr/>
        </p:nvGraphicFramePr>
        <p:xfrm>
          <a:off x="737375" y="4183625"/>
          <a:ext cx="3892225" cy="1645800"/>
        </p:xfrm>
        <a:graphic>
          <a:graphicData uri="http://schemas.openxmlformats.org/drawingml/2006/table">
            <a:tbl>
              <a:tblPr>
                <a:noFill/>
                <a:tableStyleId>{F14B5E44-F17F-407D-8D6A-C5E00FAB53F5}</a:tableStyleId>
              </a:tblPr>
              <a:tblGrid>
                <a:gridCol w="1817650">
                  <a:extLst>
                    <a:ext uri="{9D8B030D-6E8A-4147-A177-3AD203B41FA5}">
                      <a16:colId xmlns:a16="http://schemas.microsoft.com/office/drawing/2014/main" val="20000"/>
                    </a:ext>
                  </a:extLst>
                </a:gridCol>
                <a:gridCol w="2074575">
                  <a:extLst>
                    <a:ext uri="{9D8B030D-6E8A-4147-A177-3AD203B41FA5}">
                      <a16:colId xmlns:a16="http://schemas.microsoft.com/office/drawing/2014/main" val="20001"/>
                    </a:ext>
                  </a:extLst>
                </a:gridCol>
              </a:tblGrid>
              <a:tr h="41145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Shravan Kumar Soni</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b="1" dirty="0">
                          <a:latin typeface="Times New Roman"/>
                          <a:ea typeface="Times New Roman"/>
                          <a:cs typeface="Times New Roman"/>
                          <a:sym typeface="Times New Roman"/>
                        </a:rPr>
                        <a:t>1NT23IS202</a:t>
                      </a:r>
                      <a:endParaRPr b="1"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41145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Srusti 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b="1">
                          <a:latin typeface="Times New Roman"/>
                          <a:ea typeface="Times New Roman"/>
                          <a:cs typeface="Times New Roman"/>
                          <a:sym typeface="Times New Roman"/>
                        </a:rPr>
                        <a:t>1NT23IS219</a:t>
                      </a:r>
                      <a:endParaRPr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41145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Surendra Tripathi</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b="1">
                          <a:latin typeface="Times New Roman"/>
                          <a:ea typeface="Times New Roman"/>
                          <a:cs typeface="Times New Roman"/>
                          <a:sym typeface="Times New Roman"/>
                        </a:rPr>
                        <a:t>1NT23IS226</a:t>
                      </a:r>
                      <a:endParaRPr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411450">
                <a:tc>
                  <a:txBody>
                    <a:bodyPr/>
                    <a:lstStyle/>
                    <a:p>
                      <a:pPr marL="0" lvl="0" indent="0" algn="l" rtl="0">
                        <a:spcBef>
                          <a:spcPts val="0"/>
                        </a:spcBef>
                        <a:spcAft>
                          <a:spcPts val="0"/>
                        </a:spcAft>
                        <a:buNone/>
                      </a:pPr>
                      <a:r>
                        <a:rPr lang="en-IN">
                          <a:latin typeface="Times New Roman"/>
                          <a:ea typeface="Times New Roman"/>
                          <a:cs typeface="Times New Roman"/>
                          <a:sym typeface="Times New Roman"/>
                        </a:rPr>
                        <a:t>Vivek Singh</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IN" b="1" dirty="0">
                          <a:latin typeface="Times New Roman"/>
                          <a:ea typeface="Times New Roman"/>
                          <a:cs typeface="Times New Roman"/>
                          <a:sym typeface="Times New Roman"/>
                        </a:rPr>
                        <a:t>1NT23IS251</a:t>
                      </a:r>
                      <a:endParaRPr b="1"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4"/>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110" name="Google Shape;110;p14"/>
          <p:cNvSpPr txBox="1">
            <a:spLocks noGrp="1"/>
          </p:cNvSpPr>
          <p:nvPr>
            <p:ph type="body" idx="1"/>
          </p:nvPr>
        </p:nvSpPr>
        <p:spPr>
          <a:xfrm>
            <a:off x="337125" y="1808450"/>
            <a:ext cx="11314500" cy="5577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sz="2600" b="1"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115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Introduction</a:t>
            </a:r>
            <a:endParaRPr sz="26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115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Literature Survey</a:t>
            </a:r>
            <a:br>
              <a:rPr lang="en-IN" sz="2600" dirty="0">
                <a:latin typeface="Times New Roman" panose="02020603050405020304" pitchFamily="18" charset="0"/>
                <a:ea typeface="Times New Roman"/>
                <a:cs typeface="Times New Roman" panose="02020603050405020304" pitchFamily="18" charset="0"/>
                <a:sym typeface="Times New Roman"/>
              </a:rPr>
            </a:b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Outcome of Literature Survey/Research Gap/Motivation</a:t>
            </a:r>
            <a:br>
              <a:rPr lang="en-IN" sz="2600" dirty="0">
                <a:latin typeface="Times New Roman" panose="02020603050405020304" pitchFamily="18" charset="0"/>
                <a:ea typeface="Times New Roman"/>
                <a:cs typeface="Times New Roman" panose="02020603050405020304" pitchFamily="18" charset="0"/>
                <a:sym typeface="Times New Roman"/>
              </a:rPr>
            </a:b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Problem Statement</a:t>
            </a:r>
            <a:endParaRPr sz="26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Objectives</a:t>
            </a:r>
            <a:br>
              <a:rPr lang="en-IN" sz="2600" dirty="0">
                <a:latin typeface="Times New Roman" panose="02020603050405020304" pitchFamily="18" charset="0"/>
                <a:ea typeface="Times New Roman"/>
                <a:cs typeface="Times New Roman" panose="02020603050405020304" pitchFamily="18" charset="0"/>
                <a:sym typeface="Times New Roman"/>
              </a:rPr>
            </a:b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234950" algn="l" rtl="0">
              <a:lnSpc>
                <a:spcPct val="90000"/>
              </a:lnSpc>
              <a:spcBef>
                <a:spcPts val="0"/>
              </a:spcBef>
              <a:spcAft>
                <a:spcPts val="0"/>
              </a:spcAft>
              <a:buSzPts val="100"/>
              <a:buFont typeface="Times New Roman"/>
              <a:buChar char="●"/>
            </a:pP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Methodology</a:t>
            </a:r>
            <a:br>
              <a:rPr lang="en-IN" sz="2600" dirty="0">
                <a:latin typeface="Times New Roman" panose="02020603050405020304" pitchFamily="18" charset="0"/>
                <a:ea typeface="Times New Roman"/>
                <a:cs typeface="Times New Roman" panose="02020603050405020304" pitchFamily="18" charset="0"/>
                <a:sym typeface="Times New Roman"/>
              </a:rPr>
            </a:b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Architecture</a:t>
            </a:r>
            <a:br>
              <a:rPr lang="en-IN" sz="2600" dirty="0">
                <a:latin typeface="Times New Roman" panose="02020603050405020304" pitchFamily="18" charset="0"/>
                <a:ea typeface="Times New Roman"/>
                <a:cs typeface="Times New Roman" panose="02020603050405020304" pitchFamily="18" charset="0"/>
                <a:sym typeface="Times New Roman"/>
              </a:rPr>
            </a:br>
            <a:endParaRPr sz="100" dirty="0">
              <a:latin typeface="Times New Roman" panose="02020603050405020304" pitchFamily="18" charset="0"/>
              <a:ea typeface="Times New Roman"/>
              <a:cs typeface="Times New Roman" panose="02020603050405020304" pitchFamily="18" charset="0"/>
              <a:sym typeface="Times New Roman"/>
            </a:endParaRPr>
          </a:p>
          <a:p>
            <a:pPr marL="457200" lvl="0" indent="-330200" algn="l" rtl="0">
              <a:lnSpc>
                <a:spcPct val="90000"/>
              </a:lnSpc>
              <a:spcBef>
                <a:spcPts val="0"/>
              </a:spcBef>
              <a:spcAft>
                <a:spcPts val="0"/>
              </a:spcAft>
              <a:buSzPts val="1600"/>
              <a:buFont typeface="Times New Roman"/>
              <a:buChar char="●"/>
            </a:pPr>
            <a:r>
              <a:rPr lang="en-IN" sz="2600" dirty="0">
                <a:latin typeface="Times New Roman" panose="02020603050405020304" pitchFamily="18" charset="0"/>
                <a:ea typeface="Times New Roman"/>
                <a:cs typeface="Times New Roman" panose="02020603050405020304" pitchFamily="18" charset="0"/>
                <a:sym typeface="Times New Roman"/>
              </a:rPr>
              <a:t>References</a:t>
            </a:r>
            <a:endParaRPr sz="2600" dirty="0">
              <a:latin typeface="Times New Roman" panose="02020603050405020304" pitchFamily="18" charset="0"/>
              <a:ea typeface="Times New Roman"/>
              <a:cs typeface="Times New Roman" panose="02020603050405020304" pitchFamily="18" charset="0"/>
              <a:sym typeface="Times New Roman"/>
            </a:endParaRPr>
          </a:p>
        </p:txBody>
      </p:sp>
      <p:sp>
        <p:nvSpPr>
          <p:cNvPr id="111" name="Google Shape;11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112" name="Google Shape;11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113" name="Google Shape;11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5"/>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Introduction</a:t>
            </a:r>
            <a:endParaRPr dirty="0">
              <a:latin typeface="Times New Roman"/>
              <a:ea typeface="Times New Roman"/>
              <a:cs typeface="Times New Roman"/>
              <a:sym typeface="Times New Roman"/>
            </a:endParaRPr>
          </a:p>
        </p:txBody>
      </p:sp>
      <p:sp>
        <p:nvSpPr>
          <p:cNvPr id="5" name="Google Shape;111;p14">
            <a:extLst>
              <a:ext uri="{FF2B5EF4-FFF2-40B4-BE49-F238E27FC236}">
                <a16:creationId xmlns:a16="http://schemas.microsoft.com/office/drawing/2014/main" id="{F4E1F51E-4BCE-73D5-76D9-D0171EE5C228}"/>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6" name="Google Shape;112;p14">
            <a:extLst>
              <a:ext uri="{FF2B5EF4-FFF2-40B4-BE49-F238E27FC236}">
                <a16:creationId xmlns:a16="http://schemas.microsoft.com/office/drawing/2014/main" id="{1F622E5F-20DA-53C0-BA88-6B9F2C4DC55F}"/>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7" name="Google Shape;113;p14">
            <a:extLst>
              <a:ext uri="{FF2B5EF4-FFF2-40B4-BE49-F238E27FC236}">
                <a16:creationId xmlns:a16="http://schemas.microsoft.com/office/drawing/2014/main" id="{2414DC2D-F1D6-37CE-A4AC-4DCED18B0B6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3" name="Text Placeholder 12">
            <a:extLst>
              <a:ext uri="{FF2B5EF4-FFF2-40B4-BE49-F238E27FC236}">
                <a16:creationId xmlns:a16="http://schemas.microsoft.com/office/drawing/2014/main" id="{A5A06907-E4D0-CB72-43F2-AF17C07523C1}"/>
              </a:ext>
            </a:extLst>
          </p:cNvPr>
          <p:cNvSpPr>
            <a:spLocks noGrp="1"/>
          </p:cNvSpPr>
          <p:nvPr>
            <p:ph type="body" idx="1"/>
          </p:nvPr>
        </p:nvSpPr>
        <p:spPr/>
        <p:txBody>
          <a:bodyPr>
            <a:normAutofit/>
          </a:bodyPr>
          <a:lstStyle/>
          <a:p>
            <a:pPr marL="114300" indent="0">
              <a:buNone/>
            </a:pPr>
            <a:r>
              <a:rPr lang="en-US" sz="1800" dirty="0">
                <a:latin typeface="Times New Roman" panose="02020603050405020304" pitchFamily="18" charset="0"/>
                <a:cs typeface="Times New Roman" panose="02020603050405020304" pitchFamily="18" charset="0"/>
              </a:rPr>
              <a:t>This chapter introduces the </a:t>
            </a:r>
            <a:r>
              <a:rPr lang="en-US" sz="1800" b="1" dirty="0">
                <a:latin typeface="Times New Roman" panose="02020603050405020304" pitchFamily="18" charset="0"/>
                <a:cs typeface="Times New Roman" panose="02020603050405020304" pitchFamily="18" charset="0"/>
              </a:rPr>
              <a:t>O.A.S.I.S</a:t>
            </a:r>
            <a:r>
              <a:rPr lang="en-US" sz="1800" dirty="0">
                <a:latin typeface="Times New Roman" panose="02020603050405020304" pitchFamily="18" charset="0"/>
                <a:cs typeface="Times New Roman" panose="02020603050405020304" pitchFamily="18" charset="0"/>
              </a:rPr>
              <a:t> project, the problem it addresses, the overall system design, and the technologies used in the prototype. It also outlines the structure followed in the rest of the report.</a:t>
            </a:r>
            <a:endParaRPr lang="en-IN" sz="1800"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1.1 Overview and Need for the System</a:t>
            </a:r>
          </a:p>
          <a:p>
            <a:pPr marL="114300" indent="0">
              <a:buNone/>
            </a:pPr>
            <a:r>
              <a:rPr lang="en-US" sz="1800" dirty="0">
                <a:latin typeface="Times New Roman" panose="02020603050405020304" pitchFamily="18" charset="0"/>
                <a:cs typeface="Times New Roman" panose="02020603050405020304" pitchFamily="18" charset="0"/>
              </a:rPr>
              <a:t>Long form video content such as business meetings, lectures, and documentaries is difficult to review efficiently. Identifying who said something, when it was said, and what was visible on screen at that time usually requires long periods of manual searching. Existing systems often focus only on transcripts, fail to preserve long range chronology, or produce generic summaries that do not answer user specific questions. O.A.S.I.S is designed to convert such recordings into time anchored, query-able knowledge assets using open-source multimodal processing.</a:t>
            </a:r>
          </a:p>
          <a:p>
            <a:pPr marL="114300" indent="0">
              <a:buNone/>
            </a:pPr>
            <a:r>
              <a:rPr lang="en-US" sz="1800" b="1" dirty="0">
                <a:latin typeface="Times New Roman" panose="02020603050405020304" pitchFamily="18" charset="0"/>
                <a:cs typeface="Times New Roman" panose="02020603050405020304" pitchFamily="18" charset="0"/>
              </a:rPr>
              <a:t>1.2 Pipeline Overview</a:t>
            </a:r>
          </a:p>
          <a:p>
            <a:pPr marL="114300" indent="0">
              <a:buNone/>
            </a:pPr>
            <a:r>
              <a:rPr lang="en-US" sz="1800" dirty="0">
                <a:latin typeface="Times New Roman" panose="02020603050405020304" pitchFamily="18" charset="0"/>
                <a:cs typeface="Times New Roman" panose="02020603050405020304" pitchFamily="18" charset="0"/>
              </a:rPr>
              <a:t>The O.A.S.I.S prototype follows a six-stage pipeline consisting of preprocessing, transcription with speaker diarization, visual scene understanding, multimodal fusion, model benchmarking, and dashboard-based visualization. The six-stage pipeline and its data flow are shown in Figure 5.1. Each stage produces structured outputs that are consumed by the next stage, making the system modular and easy to inspect.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BCF8C37-4F3A-5751-6585-BBA6D725F357}"/>
            </a:ext>
          </a:extLst>
        </p:cNvPr>
        <p:cNvGrpSpPr/>
        <p:nvPr/>
      </p:nvGrpSpPr>
      <p:grpSpPr>
        <a:xfrm>
          <a:off x="0" y="0"/>
          <a:ext cx="0" cy="0"/>
          <a:chOff x="0" y="0"/>
          <a:chExt cx="0" cy="0"/>
        </a:xfrm>
      </p:grpSpPr>
      <p:sp>
        <p:nvSpPr>
          <p:cNvPr id="118" name="Google Shape;118;p15">
            <a:extLst>
              <a:ext uri="{FF2B5EF4-FFF2-40B4-BE49-F238E27FC236}">
                <a16:creationId xmlns:a16="http://schemas.microsoft.com/office/drawing/2014/main" id="{8258CBD2-BCE7-6B56-CCD9-A9BE79934543}"/>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Introduction</a:t>
            </a:r>
            <a:endParaRPr dirty="0">
              <a:latin typeface="Times New Roman"/>
              <a:ea typeface="Times New Roman"/>
              <a:cs typeface="Times New Roman"/>
              <a:sym typeface="Times New Roman"/>
            </a:endParaRPr>
          </a:p>
        </p:txBody>
      </p:sp>
      <p:sp>
        <p:nvSpPr>
          <p:cNvPr id="5" name="Google Shape;111;p14">
            <a:extLst>
              <a:ext uri="{FF2B5EF4-FFF2-40B4-BE49-F238E27FC236}">
                <a16:creationId xmlns:a16="http://schemas.microsoft.com/office/drawing/2014/main" id="{604ACB26-33FB-B669-9B99-8BBDE4BCAC1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6" name="Google Shape;112;p14">
            <a:extLst>
              <a:ext uri="{FF2B5EF4-FFF2-40B4-BE49-F238E27FC236}">
                <a16:creationId xmlns:a16="http://schemas.microsoft.com/office/drawing/2014/main" id="{2146444F-91F0-B2E6-30AE-9B05B62CA5AD}"/>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7" name="Google Shape;113;p14">
            <a:extLst>
              <a:ext uri="{FF2B5EF4-FFF2-40B4-BE49-F238E27FC236}">
                <a16:creationId xmlns:a16="http://schemas.microsoft.com/office/drawing/2014/main" id="{16979625-9F57-25F6-24C1-71359718011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3" name="Text Placeholder 12">
            <a:extLst>
              <a:ext uri="{FF2B5EF4-FFF2-40B4-BE49-F238E27FC236}">
                <a16:creationId xmlns:a16="http://schemas.microsoft.com/office/drawing/2014/main" id="{F52D4189-D57C-F3EA-1B45-974FDA549148}"/>
              </a:ext>
            </a:extLst>
          </p:cNvPr>
          <p:cNvSpPr>
            <a:spLocks noGrp="1"/>
          </p:cNvSpPr>
          <p:nvPr>
            <p:ph type="body" idx="1"/>
          </p:nvPr>
        </p:nvSpPr>
        <p:spPr/>
        <p:txBody>
          <a:bodyPr>
            <a:normAutofit/>
          </a:bodyPr>
          <a:lstStyle/>
          <a:p>
            <a:pPr marL="114300" indent="0">
              <a:buNone/>
            </a:pPr>
            <a:r>
              <a:rPr lang="en-IN" sz="1800" b="1" dirty="0">
                <a:latin typeface="Times New Roman" panose="02020603050405020304" pitchFamily="18" charset="0"/>
                <a:cs typeface="Times New Roman" panose="02020603050405020304" pitchFamily="18" charset="0"/>
              </a:rPr>
              <a:t>1.3 Technology Stack</a:t>
            </a:r>
          </a:p>
          <a:p>
            <a:pPr marL="114300" indent="0">
              <a:buNone/>
            </a:pPr>
            <a:r>
              <a:rPr lang="en-IN" sz="1800" dirty="0">
                <a:latin typeface="Times New Roman" panose="02020603050405020304" pitchFamily="18" charset="0"/>
                <a:cs typeface="Times New Roman" panose="02020603050405020304" pitchFamily="18" charset="0"/>
              </a:rPr>
              <a:t>The system uses </a:t>
            </a:r>
            <a:r>
              <a:rPr lang="en-IN" sz="1800" dirty="0" err="1">
                <a:latin typeface="Times New Roman" panose="02020603050405020304" pitchFamily="18" charset="0"/>
                <a:cs typeface="Times New Roman" panose="02020603050405020304" pitchFamily="18" charset="0"/>
              </a:rPr>
              <a:t>FFmpeg</a:t>
            </a:r>
            <a:r>
              <a:rPr lang="en-IN" sz="1800" dirty="0">
                <a:latin typeface="Times New Roman" panose="02020603050405020304" pitchFamily="18" charset="0"/>
                <a:cs typeface="Times New Roman" panose="02020603050405020304" pitchFamily="18" charset="0"/>
              </a:rPr>
              <a:t> for video preprocessing, </a:t>
            </a:r>
            <a:r>
              <a:rPr lang="en-IN" sz="1800" dirty="0" err="1">
                <a:latin typeface="Times New Roman" panose="02020603050405020304" pitchFamily="18" charset="0"/>
                <a:cs typeface="Times New Roman" panose="02020603050405020304" pitchFamily="18" charset="0"/>
              </a:rPr>
              <a:t>WhisperX</a:t>
            </a:r>
            <a:r>
              <a:rPr lang="en-IN" sz="1800" dirty="0">
                <a:latin typeface="Times New Roman" panose="02020603050405020304" pitchFamily="18" charset="0"/>
                <a:cs typeface="Times New Roman" panose="02020603050405020304" pitchFamily="18" charset="0"/>
              </a:rPr>
              <a:t> and wav2vec2 for transcription and alignment, </a:t>
            </a:r>
            <a:r>
              <a:rPr lang="en-IN" sz="1800" dirty="0" err="1">
                <a:latin typeface="Times New Roman" panose="02020603050405020304" pitchFamily="18" charset="0"/>
                <a:cs typeface="Times New Roman" panose="02020603050405020304" pitchFamily="18" charset="0"/>
              </a:rPr>
              <a:t>Pyannote</a:t>
            </a:r>
            <a:r>
              <a:rPr lang="en-IN" sz="1800" dirty="0">
                <a:latin typeface="Times New Roman" panose="02020603050405020304" pitchFamily="18" charset="0"/>
                <a:cs typeface="Times New Roman" panose="02020603050405020304" pitchFamily="18" charset="0"/>
              </a:rPr>
              <a:t> for speaker </a:t>
            </a:r>
            <a:r>
              <a:rPr lang="en-IN" sz="1800" dirty="0" err="1">
                <a:latin typeface="Times New Roman" panose="02020603050405020304" pitchFamily="18" charset="0"/>
                <a:cs typeface="Times New Roman" panose="02020603050405020304" pitchFamily="18" charset="0"/>
              </a:rPr>
              <a:t>diarization</a:t>
            </a:r>
            <a:r>
              <a:rPr lang="en-IN" sz="1800" dirty="0">
                <a:latin typeface="Times New Roman" panose="02020603050405020304" pitchFamily="18" charset="0"/>
                <a:cs typeface="Times New Roman" panose="02020603050405020304" pitchFamily="18" charset="0"/>
              </a:rPr>
              <a:t>, Moondream2 for visual understanding, and open weight language models such as Qwen, Llama, Mistral, and Gemma for reasoning and summarization. </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Transformers, and </a:t>
            </a:r>
            <a:r>
              <a:rPr lang="en-IN" sz="1800" dirty="0" err="1">
                <a:latin typeface="Times New Roman" panose="02020603050405020304" pitchFamily="18" charset="0"/>
                <a:cs typeface="Times New Roman" panose="02020603050405020304" pitchFamily="18" charset="0"/>
              </a:rPr>
              <a:t>bitsandbytes</a:t>
            </a:r>
            <a:r>
              <a:rPr lang="en-IN" sz="1800" dirty="0">
                <a:latin typeface="Times New Roman" panose="02020603050405020304" pitchFamily="18" charset="0"/>
                <a:cs typeface="Times New Roman" panose="02020603050405020304" pitchFamily="18" charset="0"/>
              </a:rPr>
              <a:t> are used for model execution and quantized inference. </a:t>
            </a:r>
            <a:r>
              <a:rPr lang="en-IN" sz="1800" dirty="0" err="1">
                <a:latin typeface="Times New Roman" panose="02020603050405020304" pitchFamily="18" charset="0"/>
                <a:cs typeface="Times New Roman" panose="02020603050405020304" pitchFamily="18" charset="0"/>
              </a:rPr>
              <a:t>Streamlit</a:t>
            </a:r>
            <a:r>
              <a:rPr lang="en-IN" sz="1800" dirty="0">
                <a:latin typeface="Times New Roman" panose="02020603050405020304" pitchFamily="18" charset="0"/>
                <a:cs typeface="Times New Roman" panose="02020603050405020304" pitchFamily="18" charset="0"/>
              </a:rPr>
              <a:t> is used to build the dashboard interface for viewing outputs and benchmark metrics.</a:t>
            </a:r>
          </a:p>
          <a:p>
            <a:pPr marL="114300" indent="0">
              <a:buNone/>
            </a:pPr>
            <a:r>
              <a:rPr lang="en-US" sz="1800" b="1" dirty="0">
                <a:latin typeface="Times New Roman" panose="02020603050405020304" pitchFamily="18" charset="0"/>
                <a:cs typeface="Times New Roman" panose="02020603050405020304" pitchFamily="18" charset="0"/>
              </a:rPr>
              <a:t>1.4 System Output and Utility</a:t>
            </a:r>
          </a:p>
          <a:p>
            <a:pPr marL="114300" indent="0">
              <a:buNone/>
            </a:pPr>
            <a:r>
              <a:rPr lang="en-US" sz="1800" dirty="0">
                <a:latin typeface="Times New Roman" panose="02020603050405020304" pitchFamily="18" charset="0"/>
                <a:cs typeface="Times New Roman" panose="02020603050405020304" pitchFamily="18" charset="0"/>
              </a:rPr>
              <a:t>The final system produces timestamped transcripts, speaker identified dialogue, visual scene descriptions, model wise summaries, and benchmark statistics in a form that is easy to inspect. This makes the prototype useful not only for summary generation but also for reviewing meetings, tracing speaker contributions, and comparing open source model behavior on long videos.</a:t>
            </a:r>
          </a:p>
          <a:p>
            <a:pPr marL="114300" indent="0">
              <a:buNone/>
            </a:pPr>
            <a:r>
              <a:rPr lang="en-IN" sz="1800" b="1" dirty="0">
                <a:latin typeface="Times New Roman" panose="02020603050405020304" pitchFamily="18" charset="0"/>
                <a:cs typeface="Times New Roman" panose="02020603050405020304" pitchFamily="18" charset="0"/>
              </a:rPr>
              <a:t>1.5 Scope</a:t>
            </a:r>
          </a:p>
          <a:p>
            <a:pPr marL="114300" indent="0">
              <a:buNone/>
            </a:pPr>
            <a:r>
              <a:rPr lang="en-IN" sz="1800" dirty="0">
                <a:latin typeface="Times New Roman" panose="02020603050405020304" pitchFamily="18" charset="0"/>
                <a:cs typeface="Times New Roman" panose="02020603050405020304" pitchFamily="18" charset="0"/>
              </a:rPr>
              <a:t>The scope of O.A.S.I.S covers end to end processing of long form videos through audio extraction, speaker aware transcription, keyframe based visual context generation.</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048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6"/>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Literature Survey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F4ECED04-216C-E924-19B2-AACC8A2774B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A9B433EB-DE6F-E49E-1CEA-D9E01E5C0DDC}"/>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6068BE13-98F3-10D8-3143-E8CEF9E30C5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6" name="Text Placeholder 5">
            <a:extLst>
              <a:ext uri="{FF2B5EF4-FFF2-40B4-BE49-F238E27FC236}">
                <a16:creationId xmlns:a16="http://schemas.microsoft.com/office/drawing/2014/main" id="{6B72AD20-6CE4-A621-5905-130894FE25BE}"/>
              </a:ext>
            </a:extLst>
          </p:cNvPr>
          <p:cNvSpPr>
            <a:spLocks noGrp="1"/>
          </p:cNvSpPr>
          <p:nvPr>
            <p:ph type="body" idx="1"/>
          </p:nvPr>
        </p:nvSpPr>
        <p:spPr>
          <a:xfrm>
            <a:off x="471055" y="1575591"/>
            <a:ext cx="11314545" cy="4351338"/>
          </a:xfrm>
        </p:spPr>
        <p:txBody>
          <a:bodyPr>
            <a:normAutofit/>
          </a:bodyPr>
          <a:lstStyle/>
          <a:p>
            <a:pPr marL="114300" indent="0">
              <a:buNone/>
            </a:pPr>
            <a:r>
              <a:rPr lang="en-US" sz="1800" dirty="0">
                <a:latin typeface="Times New Roman" panose="02020603050405020304" pitchFamily="18" charset="0"/>
                <a:cs typeface="Times New Roman" panose="02020603050405020304" pitchFamily="18" charset="0"/>
              </a:rPr>
              <a:t>This chapter reviews major research directions related to long form video understanding, meeting summarization, query-based summarization, and benchmarking of large language models.</a:t>
            </a:r>
          </a:p>
          <a:p>
            <a:pPr marL="114300" indent="0">
              <a:buNone/>
            </a:pPr>
            <a:r>
              <a:rPr lang="en-IN" sz="2000" b="1" dirty="0">
                <a:latin typeface="Times New Roman" panose="02020603050405020304" pitchFamily="18" charset="0"/>
                <a:cs typeface="Times New Roman" panose="02020603050405020304" pitchFamily="18" charset="0"/>
              </a:rPr>
              <a:t>2.1 Long Form Video Language Understanding</a:t>
            </a:r>
            <a:br>
              <a:rPr lang="en-IN"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	2.1.1 HourVideo</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HourVideo</a:t>
            </a:r>
            <a:r>
              <a:rPr lang="en-US" sz="1800" dirty="0">
                <a:latin typeface="Times New Roman" panose="02020603050405020304" pitchFamily="18" charset="0"/>
                <a:cs typeface="Times New Roman" panose="02020603050405020304" pitchFamily="18" charset="0"/>
              </a:rPr>
              <a:t> presents one hour video language understanding with questions on summarization, perception, 	and reasoning [4]. Strong proprietary systems perform only moderately well, while open models lag behind. 	The benchmark does not focus on speaker attribution or query driven meeting style understanding.</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2.1.2 LongVideoBench</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LongVideoBench evaluates long context video language understanding using interleaved video and text 	inputs [5]. Performance improves with more frames, but remains far from human level. It is not specifically 	designed for meetings or lectures with structured speaker context.</a:t>
            </a:r>
            <a:endParaRPr lang="en-IN" sz="1800" b="1" dirty="0">
              <a:latin typeface="Times New Roman" panose="02020603050405020304" pitchFamily="18" charset="0"/>
              <a:cs typeface="Times New Roman" panose="02020603050405020304" pitchFamily="18" charset="0"/>
            </a:endParaRPr>
          </a:p>
          <a:p>
            <a:pPr marL="114300" indent="0">
              <a:buNone/>
            </a:pP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A730CED5-E26C-0754-155F-C950CA87C863}"/>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E3C90B42-05EF-78DA-AB8F-CD04ACA42310}"/>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Literature Survey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8AAA4299-37C1-CE8B-9660-63DAD0C4825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F6789108-B2D1-6FE9-F15D-DB252898985E}"/>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12F096AD-2B1F-E80A-8639-70F4DDFB4B0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6" name="Text Placeholder 5">
            <a:extLst>
              <a:ext uri="{FF2B5EF4-FFF2-40B4-BE49-F238E27FC236}">
                <a16:creationId xmlns:a16="http://schemas.microsoft.com/office/drawing/2014/main" id="{371280F0-2B16-AA79-CBC3-6D93C87E7656}"/>
              </a:ext>
            </a:extLst>
          </p:cNvPr>
          <p:cNvSpPr>
            <a:spLocks noGrp="1"/>
          </p:cNvSpPr>
          <p:nvPr>
            <p:ph type="body" idx="1"/>
          </p:nvPr>
        </p:nvSpPr>
        <p:spPr/>
        <p:txBody>
          <a:bodyPr>
            <a:normAutofit lnSpcReduction="10000"/>
          </a:bodyPr>
          <a:lstStyle/>
          <a:p>
            <a:pPr marL="114300" indent="0">
              <a:buNone/>
            </a:pPr>
            <a:r>
              <a:rPr lang="en-US" sz="2000" b="1" dirty="0">
                <a:latin typeface="Times New Roman" panose="02020603050405020304" pitchFamily="18" charset="0"/>
                <a:cs typeface="Times New Roman" panose="02020603050405020304" pitchFamily="18" charset="0"/>
              </a:rPr>
              <a:t>2.2 Meeting and Lecture Summarization</a:t>
            </a: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2.2.1 </a:t>
            </a:r>
            <a:r>
              <a:rPr lang="en-IN" sz="1800" b="1" dirty="0" err="1">
                <a:latin typeface="Times New Roman" panose="02020603050405020304" pitchFamily="18" charset="0"/>
                <a:cs typeface="Times New Roman" panose="02020603050405020304" pitchFamily="18" charset="0"/>
              </a:rPr>
              <a:t>MeetingBank</a:t>
            </a:r>
            <a:endParaRPr lang="en-IN" sz="18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MeetingBank</a:t>
            </a:r>
            <a:r>
              <a:rPr lang="en-US" sz="1800" dirty="0">
                <a:latin typeface="Times New Roman" panose="02020603050405020304" pitchFamily="18" charset="0"/>
                <a:cs typeface="Times New Roman" panose="02020603050405020304" pitchFamily="18" charset="0"/>
              </a:rPr>
              <a:t> provides a benchmark of real meeting data with transcripts, agendas, and written minutes [6]. 	It 	is useful for long meeting summarization research. The dataset still remains text centered and does not 	form a full audio-visual query system.</a:t>
            </a:r>
            <a:br>
              <a:rPr lang="en-US" sz="1800"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2.2.2 </a:t>
            </a:r>
            <a:r>
              <a:rPr lang="en-IN" sz="1800" b="1" dirty="0" err="1">
                <a:latin typeface="Times New Roman" panose="02020603050405020304" pitchFamily="18" charset="0"/>
                <a:cs typeface="Times New Roman" panose="02020603050405020304" pitchFamily="18" charset="0"/>
              </a:rPr>
              <a:t>QMSum</a:t>
            </a:r>
            <a:endParaRPr lang="en-IN" sz="1800" b="1"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QMSum</a:t>
            </a:r>
            <a:r>
              <a:rPr lang="en-US" sz="1800" dirty="0">
                <a:latin typeface="Times New Roman" panose="02020603050405020304" pitchFamily="18" charset="0"/>
                <a:cs typeface="Times New Roman" panose="02020603050405020304" pitchFamily="18" charset="0"/>
              </a:rPr>
              <a:t> introduces query-based meeting summarization where models locate relevant spans and answer 	queries [9]. Its formulation is closely related to this project. However, it uses transcripts only and ignores 	visual scene information.</a:t>
            </a:r>
          </a:p>
          <a:p>
            <a:pPr marL="114300" indent="0">
              <a:buNone/>
            </a:pPr>
            <a:r>
              <a:rPr lang="en-US" sz="1800" b="1" dirty="0">
                <a:latin typeface="Times New Roman" panose="02020603050405020304" pitchFamily="18" charset="0"/>
                <a:cs typeface="Times New Roman" panose="02020603050405020304" pitchFamily="18" charset="0"/>
              </a:rPr>
              <a: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2.2.3 MISP Meeting</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MISP Meeting combines speech, vision, and text cues for long meeting transcription and summarization [7]. It 	shows that visual signals can improve downstream performance. It still does not provide a complete open 	query interface for practical use.</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37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73FDB464-AE5B-1DB2-5506-088105BEE758}"/>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3778AE83-368F-5E42-3990-ABA425311A1E}"/>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Literature Survey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D67332AD-CB5F-D402-F476-A3187A03494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18BC34D4-A3D9-BCDA-DAF6-CB5BC1889F5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85A1326D-AC10-4E62-E58D-01CB201839A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6" name="Text Placeholder 5">
            <a:extLst>
              <a:ext uri="{FF2B5EF4-FFF2-40B4-BE49-F238E27FC236}">
                <a16:creationId xmlns:a16="http://schemas.microsoft.com/office/drawing/2014/main" id="{DE2366BE-EE21-6FF0-7FB8-5AF4A0871E94}"/>
              </a:ext>
            </a:extLst>
          </p:cNvPr>
          <p:cNvSpPr>
            <a:spLocks noGrp="1"/>
          </p:cNvSpPr>
          <p:nvPr>
            <p:ph type="body" idx="1"/>
          </p:nvPr>
        </p:nvSpPr>
        <p:spPr/>
        <p:txBody>
          <a:bodyPr>
            <a:normAutofit/>
          </a:bodyPr>
          <a:lstStyle/>
          <a:p>
            <a:pPr marL="114300" indent="0">
              <a:buNone/>
            </a:pPr>
            <a:r>
              <a:rPr lang="en-US" sz="2000" b="1" dirty="0">
                <a:latin typeface="Times New Roman" panose="02020603050405020304" pitchFamily="18" charset="0"/>
                <a:cs typeface="Times New Roman" panose="02020603050405020304" pitchFamily="18" charset="0"/>
              </a:rPr>
              <a:t>2.3 Query Focused Video Summarization</a:t>
            </a:r>
          </a:p>
          <a:p>
            <a:pPr marL="114300" indent="0">
              <a:buNone/>
            </a:pPr>
            <a:r>
              <a:rPr lang="en-US" sz="1800" b="1" dirty="0">
                <a:latin typeface="Times New Roman" panose="02020603050405020304" pitchFamily="18" charset="0"/>
                <a:cs typeface="Times New Roman" panose="02020603050405020304" pitchFamily="18" charset="0"/>
              </a:rPr>
              <a:t>	2.3.1 Your Interest, Your Summaries</a:t>
            </a:r>
          </a:p>
          <a:p>
            <a:pPr marL="114300" indent="0">
              <a:buNone/>
            </a:pPr>
            <a:r>
              <a:rPr lang="en-US" sz="1800" dirty="0">
                <a:latin typeface="Times New Roman" panose="02020603050405020304" pitchFamily="18" charset="0"/>
                <a:cs typeface="Times New Roman" panose="02020603050405020304" pitchFamily="18" charset="0"/>
              </a:rPr>
              <a:t>	This paper proposes query focused video summarization based on user interest [14]. It improves relevance 	over generic summaries. It is aimed more at shorter videos than long multi speaker recordings.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2.3.2 Query Based Video Summarization with Pseudo Label Supervision</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work improves query-based video summarization using pseudo labels under limited annotation settings 	[10]. It strengthens query to segment correspondence. The setting remains closer to generic short video 	summarization.</a:t>
            </a:r>
            <a:endParaRPr lang="en-US" sz="18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2.3.3 Video Summarization with Long Short-Term Memory</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earlier work models video summarization as a sequence learning problem using LSTMs [13]. It 		established a useful temporal baseline. It predates modern multimodal language models and long context 	query answering.</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9474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22FC8E1F-2DFB-E455-49E4-923AF0776308}"/>
            </a:ext>
          </a:extLst>
        </p:cNvPr>
        <p:cNvGrpSpPr/>
        <p:nvPr/>
      </p:nvGrpSpPr>
      <p:grpSpPr>
        <a:xfrm>
          <a:off x="0" y="0"/>
          <a:ext cx="0" cy="0"/>
          <a:chOff x="0" y="0"/>
          <a:chExt cx="0" cy="0"/>
        </a:xfrm>
      </p:grpSpPr>
      <p:sp>
        <p:nvSpPr>
          <p:cNvPr id="127" name="Google Shape;127;p16">
            <a:extLst>
              <a:ext uri="{FF2B5EF4-FFF2-40B4-BE49-F238E27FC236}">
                <a16:creationId xmlns:a16="http://schemas.microsoft.com/office/drawing/2014/main" id="{5FF25EC5-5F2F-24E7-8EC9-C559643B7B5B}"/>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Literature Survey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E74B31AC-502C-99A3-28AB-859C6246FDF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9ACBE62F-2145-D385-D1A9-22EB0E85A27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221A71E9-A51D-98CA-ABED-4E1971276D03}"/>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6" name="Text Placeholder 5">
            <a:extLst>
              <a:ext uri="{FF2B5EF4-FFF2-40B4-BE49-F238E27FC236}">
                <a16:creationId xmlns:a16="http://schemas.microsoft.com/office/drawing/2014/main" id="{FC7BB012-8D32-6970-6D44-210A50E7C491}"/>
              </a:ext>
            </a:extLst>
          </p:cNvPr>
          <p:cNvSpPr>
            <a:spLocks noGrp="1"/>
          </p:cNvSpPr>
          <p:nvPr>
            <p:ph type="body" idx="1"/>
          </p:nvPr>
        </p:nvSpPr>
        <p:spPr/>
        <p:txBody>
          <a:bodyPr>
            <a:normAutofit/>
          </a:bodyPr>
          <a:lstStyle/>
          <a:p>
            <a:pPr marL="114300" indent="0">
              <a:buNone/>
            </a:pPr>
            <a:r>
              <a:rPr lang="en-IN" sz="2000" b="1" dirty="0">
                <a:latin typeface="Times New Roman" panose="02020603050405020304" pitchFamily="18" charset="0"/>
                <a:cs typeface="Times New Roman" panose="02020603050405020304" pitchFamily="18" charset="0"/>
              </a:rPr>
              <a:t>2.4 Benchmarking and Evaluation</a:t>
            </a:r>
            <a:endParaRPr lang="en-US" sz="20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2.4.1 Comparing Large Language Models for Text Classification</a:t>
            </a:r>
            <a:endParaRPr lang="en-US" sz="1800" b="1" dirty="0">
              <a:latin typeface="Times New Roman" panose="02020603050405020304" pitchFamily="18" charset="0"/>
              <a:cs typeface="Times New Roman" panose="02020603050405020304" pitchFamily="18" charset="0"/>
            </a:endParaRPr>
          </a:p>
          <a:p>
            <a:pPr marL="114300" indent="0">
              <a:buNone/>
            </a:pPr>
            <a:r>
              <a:rPr lang="en-US" sz="1800" dirty="0">
                <a:latin typeface="Times New Roman" panose="02020603050405020304" pitchFamily="18" charset="0"/>
                <a:cs typeface="Times New Roman" panose="02020603050405020304" pitchFamily="18" charset="0"/>
              </a:rPr>
              <a:t>	This study compares open and closed language models across classification tasks and languages [3]. It shows 	that performance varies significantly across tasks. The study does not cover multimodal long video settings.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p>
          <a:p>
            <a:pPr marL="114300" indent="0">
              <a:buNone/>
            </a:pPr>
            <a:r>
              <a:rPr lang="en-US" sz="1800" b="1" dirty="0">
                <a:latin typeface="Times New Roman" panose="02020603050405020304" pitchFamily="18" charset="0"/>
                <a:cs typeface="Times New Roman" panose="02020603050405020304" pitchFamily="18" charset="0"/>
              </a:rPr>
              <a:t>	2.4.2 Breaking Down Video LLM Benchmarks</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work argues that many video benchmarks overestimate temporal understanding because models exploit 	shortcuts [1]. It separates knowledge, spatial, and temporal dimensions. This supports the need for stronger 	evaluation in time anchored systems.</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p>
          <a:p>
            <a:pPr marL="114300" indent="0">
              <a:buNone/>
            </a:pPr>
            <a:r>
              <a:rPr lang="en-US" sz="1800" b="1" dirty="0">
                <a:latin typeface="Times New Roman" panose="02020603050405020304" pitchFamily="18" charset="0"/>
                <a:cs typeface="Times New Roman" panose="02020603050405020304" pitchFamily="18" charset="0"/>
              </a:rPr>
              <a:t>	2.4.3 Train Short, Infer Long</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work presents a Speech LLM for joint ASR and diarization on long audio [12]. It improves speaker 	continuity across segments. It remains audio only and does not extend to visual context.</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018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265545" y="-3"/>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Gaps and Motivation</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99C2F5B3-58C6-347F-84C9-D52E98C1654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329E1539-54E5-855E-983A-9820EFBF46C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3A1772E7-9841-884D-2513-CCBCCDAEA7F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6" name="Text Placeholder 5">
            <a:extLst>
              <a:ext uri="{FF2B5EF4-FFF2-40B4-BE49-F238E27FC236}">
                <a16:creationId xmlns:a16="http://schemas.microsoft.com/office/drawing/2014/main" id="{9C146165-F5B0-FA43-DA89-6B4B9595AFEC}"/>
              </a:ext>
            </a:extLst>
          </p:cNvPr>
          <p:cNvSpPr>
            <a:spLocks noGrp="1"/>
          </p:cNvSpPr>
          <p:nvPr>
            <p:ph type="body" idx="1"/>
          </p:nvPr>
        </p:nvSpPr>
        <p:spPr/>
        <p:txBody>
          <a:bodyPr>
            <a:normAutofit lnSpcReduction="10000"/>
          </a:bodyPr>
          <a:lstStyle/>
          <a:p>
            <a:pPr marL="114300" indent="0">
              <a:buNone/>
            </a:pPr>
            <a:r>
              <a:rPr lang="en-IN" sz="1800" b="1" dirty="0">
                <a:latin typeface="Times New Roman" panose="02020603050405020304" pitchFamily="18" charset="0"/>
                <a:cs typeface="Times New Roman" panose="02020603050405020304" pitchFamily="18" charset="0"/>
              </a:rPr>
              <a:t>2.5.1 Research Gaps</a:t>
            </a:r>
          </a:p>
          <a:p>
            <a:pPr>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Current work remains fragmented across long video benchmarks, transcript based meeting summarization, query focused summarization, and model benchmarking.</a:t>
            </a:r>
          </a:p>
          <a:p>
            <a:pPr>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Very few systems combine speaker aware transcription, visual scene understanding, long range chronology, and query driven summarization in one open architecture [8, 6, 9].</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2.5.2 Motivation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O.A.S.I.S is motivated by the need for an open-source system that can process long recordings, align spoken content with visual context, and answer user queries in a time anchored manner.</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Existing work either focuses on transcripts, on benchmarks, or on individual components rather than a usable end to end pipeline.</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proposed system aims to reduce manual video review, improve traceability of who said what and when, and create a practical platform for benchmarking open-source models on realistic long form tasks [4, 5, 7].</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motivation directly follows from the combined gaps identified across current literature.</a:t>
            </a: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0729BB96-4862-BF3F-20C4-1AC8A2A8A2A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732ADF9D-693F-A78A-F8F6-2C71214790CA}"/>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28DF9C22-AAFD-F19C-696D-97868DBAB75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6" name="Text Placeholder 5">
            <a:extLst>
              <a:ext uri="{FF2B5EF4-FFF2-40B4-BE49-F238E27FC236}">
                <a16:creationId xmlns:a16="http://schemas.microsoft.com/office/drawing/2014/main" id="{BE7CEE6A-F5B3-6244-9E0E-2FAE1F22C9B0}"/>
              </a:ext>
            </a:extLst>
          </p:cNvPr>
          <p:cNvSpPr>
            <a:spLocks noGrp="1"/>
          </p:cNvSpPr>
          <p:nvPr>
            <p:ph type="body" idx="1"/>
          </p:nvPr>
        </p:nvSpPr>
        <p:spPr>
          <a:xfrm>
            <a:off x="521855" y="2727057"/>
            <a:ext cx="11314545" cy="1921143"/>
          </a:xfrm>
        </p:spPr>
        <p:txBody>
          <a:bodyPr>
            <a:normAutofit/>
          </a:bodyPr>
          <a:lstStyle/>
          <a:p>
            <a:pPr marL="114300" indent="0">
              <a:buNone/>
            </a:pPr>
            <a:endParaRPr lang="en-IN" sz="1800" b="1" dirty="0">
              <a:latin typeface="Times New Roman" panose="02020603050405020304" pitchFamily="18" charset="0"/>
              <a:cs typeface="Times New Roman" panose="02020603050405020304" pitchFamily="18" charset="0"/>
            </a:endParaRPr>
          </a:p>
          <a:p>
            <a:pPr marL="114300" indent="0">
              <a:buNone/>
            </a:pPr>
            <a:r>
              <a:rPr lang="en-US" sz="1800" dirty="0">
                <a:latin typeface="Times New Roman" panose="02020603050405020304" pitchFamily="18" charset="0"/>
                <a:cs typeface="Times New Roman" panose="02020603050405020304" pitchFamily="18" charset="0"/>
              </a:rPr>
              <a:t>Long form video content such as meetings, lectures, and documentaries is difficult to review efficiently. Existing tools often ignore visual context, fail to preserve long range chronology, or generate fixed summaries that do not answer user specific questions. This creates a need for an open-source system combining audio and visual understanding with time anchored and query driven outputs.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dirty="0">
                <a:latin typeface="Times New Roman"/>
                <a:ea typeface="Times New Roman"/>
                <a:cs typeface="Times New Roman"/>
                <a:sym typeface="Times New Roman"/>
              </a:rPr>
              <a:t>Objectives</a:t>
            </a:r>
            <a:endParaRPr dirty="0">
              <a:latin typeface="Times New Roman"/>
              <a:ea typeface="Times New Roman"/>
              <a:cs typeface="Times New Roman"/>
              <a:sym typeface="Times New Roman"/>
            </a:endParaRPr>
          </a:p>
        </p:txBody>
      </p:sp>
      <p:sp>
        <p:nvSpPr>
          <p:cNvPr id="164" name="Google Shape;164;p20"/>
          <p:cNvSpPr txBox="1">
            <a:spLocks noGrp="1"/>
          </p:cNvSpPr>
          <p:nvPr>
            <p:ph type="body" idx="1"/>
          </p:nvPr>
        </p:nvSpPr>
        <p:spPr>
          <a:xfrm>
            <a:off x="438750" y="1590975"/>
            <a:ext cx="11314500" cy="4348200"/>
          </a:xfrm>
          <a:prstGeom prst="rect">
            <a:avLst/>
          </a:prstGeom>
          <a:noFill/>
          <a:ln>
            <a:noFill/>
          </a:ln>
        </p:spPr>
        <p:txBody>
          <a:bodyPr spcFirstLastPara="1" wrap="square" lIns="91425" tIns="45700" rIns="91425" bIns="45700" anchor="t" anchorCtr="0">
            <a:noAutofit/>
          </a:bodyPr>
          <a:lstStyle/>
          <a:p>
            <a:pPr marL="527050" lvl="0" indent="-400050" algn="just">
              <a:spcBef>
                <a:spcPts val="0"/>
              </a:spcBef>
              <a:buSzPts val="1600"/>
              <a:buFont typeface="+mj-lt"/>
              <a:buAutoNum type="romanUcPeriod"/>
            </a:pPr>
            <a:r>
              <a:rPr lang="en-US" sz="1800" b="1" dirty="0">
                <a:latin typeface="Times New Roman" panose="02020603050405020304" pitchFamily="18" charset="0"/>
                <a:cs typeface="Times New Roman" panose="02020603050405020304" pitchFamily="18" charset="0"/>
              </a:rPr>
              <a:t>To benchmark the runtime performance and accuracy limitations of open source LLMs with chronological audio-visual data.</a:t>
            </a:r>
          </a:p>
          <a:p>
            <a:pPr marL="127000" lvl="0" indent="0" algn="just">
              <a:spcBef>
                <a:spcPts val="0"/>
              </a:spcBef>
              <a:buSzPts val="1600"/>
              <a:buNone/>
            </a:pPr>
            <a:r>
              <a:rPr lang="en-US" sz="1800" dirty="0">
                <a:latin typeface="Times New Roman" panose="02020603050405020304" pitchFamily="18" charset="0"/>
                <a:cs typeface="Times New Roman" panose="02020603050405020304" pitchFamily="18" charset="0"/>
              </a:rPr>
              <a:t>This objective focuses on measuring latency, throughput, and model quality when open models process long multimodal inputs under the same conditions.</a:t>
            </a:r>
            <a:endParaRPr lang="en-US" sz="1800" b="1" dirty="0">
              <a:latin typeface="Times New Roman" panose="02020603050405020304" pitchFamily="18" charset="0"/>
              <a:ea typeface="Times New Roman"/>
              <a:cs typeface="Times New Roman" panose="02020603050405020304" pitchFamily="18" charset="0"/>
              <a:sym typeface="Times New Roman"/>
            </a:endParaRPr>
          </a:p>
          <a:p>
            <a:pPr marL="857250" lvl="0" indent="-400050" algn="just" rtl="0">
              <a:spcBef>
                <a:spcPts val="0"/>
              </a:spcBef>
              <a:spcAft>
                <a:spcPts val="0"/>
              </a:spcAft>
              <a:buFont typeface="+mj-lt"/>
              <a:buAutoNum type="romanUcPeriod"/>
            </a:pPr>
            <a:endParaRPr sz="1800" dirty="0">
              <a:latin typeface="Times New Roman" panose="02020603050405020304" pitchFamily="18" charset="0"/>
              <a:ea typeface="Times New Roman"/>
              <a:cs typeface="Times New Roman" panose="02020603050405020304" pitchFamily="18" charset="0"/>
              <a:sym typeface="Times New Roman"/>
            </a:endParaRPr>
          </a:p>
          <a:p>
            <a:pPr marL="527050" lvl="0" indent="-400050" algn="just">
              <a:spcBef>
                <a:spcPts val="0"/>
              </a:spcBef>
              <a:buSzPts val="1600"/>
              <a:buFont typeface="+mj-lt"/>
              <a:buAutoNum type="romanUcPeriod"/>
            </a:pPr>
            <a:r>
              <a:rPr lang="en-US" sz="1800" b="1" dirty="0">
                <a:latin typeface="Times New Roman" panose="02020603050405020304" pitchFamily="18" charset="0"/>
                <a:cs typeface="Times New Roman" panose="02020603050405020304" pitchFamily="18" charset="0"/>
              </a:rPr>
              <a:t>To develop a user query driven summarization engine that outputs structurally based on individual questions.</a:t>
            </a:r>
          </a:p>
          <a:p>
            <a:pPr marL="127000" lvl="0" indent="0" algn="just">
              <a:spcBef>
                <a:spcPts val="0"/>
              </a:spcBef>
              <a:buSzPts val="1600"/>
              <a:buNone/>
            </a:pPr>
            <a:r>
              <a:rPr lang="en-US" sz="1800" dirty="0">
                <a:latin typeface="Times New Roman" panose="02020603050405020304" pitchFamily="18" charset="0"/>
                <a:cs typeface="Times New Roman" panose="02020603050405020304" pitchFamily="18" charset="0"/>
              </a:rPr>
              <a:t>This ensures the system generates targeted answers instead of a single generic summary for every user and every video.</a:t>
            </a:r>
          </a:p>
          <a:p>
            <a:pPr marL="527050" lvl="0" indent="-400050" algn="just">
              <a:spcBef>
                <a:spcPts val="0"/>
              </a:spcBef>
              <a:buSzPts val="1600"/>
              <a:buFont typeface="+mj-lt"/>
              <a:buAutoNum type="romanUcPeriod"/>
            </a:pPr>
            <a:endParaRPr lang="en-US" sz="1800" b="1" dirty="0">
              <a:latin typeface="Times New Roman" panose="02020603050405020304" pitchFamily="18" charset="0"/>
              <a:ea typeface="Times New Roman"/>
              <a:cs typeface="Times New Roman" panose="02020603050405020304" pitchFamily="18" charset="0"/>
              <a:sym typeface="Times New Roman"/>
            </a:endParaRPr>
          </a:p>
          <a:p>
            <a:pPr marL="527050" lvl="0" indent="-400050" algn="just">
              <a:spcBef>
                <a:spcPts val="0"/>
              </a:spcBef>
              <a:buSzPts val="1600"/>
              <a:buFont typeface="+mj-lt"/>
              <a:buAutoNum type="romanUcPeriod"/>
            </a:pPr>
            <a:r>
              <a:rPr lang="en-US" sz="1800" b="1" dirty="0">
                <a:latin typeface="Times New Roman" panose="02020603050405020304" pitchFamily="18" charset="0"/>
                <a:cs typeface="Times New Roman" panose="02020603050405020304" pitchFamily="18" charset="0"/>
              </a:rPr>
              <a:t>To integrate automated speaker indexing and time stamped transcription pipelines to map exactly who spoke and when.</a:t>
            </a:r>
          </a:p>
          <a:p>
            <a:pPr marL="127000" lvl="0" indent="0" algn="just">
              <a:spcBef>
                <a:spcPts val="0"/>
              </a:spcBef>
              <a:buSzPts val="1600"/>
              <a:buNone/>
            </a:pPr>
            <a:r>
              <a:rPr lang="en-US" sz="1800" dirty="0">
                <a:latin typeface="Times New Roman" panose="02020603050405020304" pitchFamily="18" charset="0"/>
                <a:cs typeface="Times New Roman" panose="02020603050405020304" pitchFamily="18" charset="0"/>
              </a:rPr>
              <a:t>This objective supports precise retrieval of speaker specific content and improves usability in meetings and lecture review.</a:t>
            </a:r>
            <a:endParaRPr sz="1800" b="1" dirty="0">
              <a:latin typeface="Times New Roman" panose="02020603050405020304" pitchFamily="18" charset="0"/>
              <a:ea typeface="Times New Roman"/>
              <a:cs typeface="Times New Roman" panose="02020603050405020304" pitchFamily="18" charset="0"/>
              <a:sym typeface="Times New Roman"/>
            </a:endParaRPr>
          </a:p>
          <a:p>
            <a:pPr marL="857250" lvl="0" indent="-400050" algn="just" rtl="0">
              <a:spcBef>
                <a:spcPts val="0"/>
              </a:spcBef>
              <a:spcAft>
                <a:spcPts val="0"/>
              </a:spcAft>
              <a:buFont typeface="+mj-lt"/>
              <a:buAutoNum type="romanUcPeriod"/>
            </a:pPr>
            <a:endParaRPr sz="1800" dirty="0">
              <a:latin typeface="Times New Roman" panose="02020603050405020304" pitchFamily="18" charset="0"/>
              <a:ea typeface="Times New Roman"/>
              <a:cs typeface="Times New Roman" panose="02020603050405020304" pitchFamily="18" charset="0"/>
              <a:sym typeface="Times New Roman"/>
            </a:endParaRPr>
          </a:p>
          <a:p>
            <a:pPr marL="527050" lvl="0" indent="-400050" algn="just">
              <a:spcBef>
                <a:spcPts val="0"/>
              </a:spcBef>
              <a:buSzPts val="1600"/>
              <a:buFont typeface="+mj-lt"/>
              <a:buAutoNum type="romanUcPeriod"/>
            </a:pPr>
            <a:r>
              <a:rPr lang="en-US" sz="1800" b="1" dirty="0">
                <a:latin typeface="Times New Roman" panose="02020603050405020304" pitchFamily="18" charset="0"/>
                <a:cs typeface="Times New Roman" panose="02020603050405020304" pitchFamily="18" charset="0"/>
              </a:rPr>
              <a:t>To evaluate an architecture with visual scene transitions and speech analysis for a complete understanding.</a:t>
            </a:r>
          </a:p>
          <a:p>
            <a:pPr marL="127000" lvl="0" indent="0" algn="just">
              <a:spcBef>
                <a:spcPts val="0"/>
              </a:spcBef>
              <a:buSzPts val="1600"/>
              <a:buNone/>
            </a:pPr>
            <a:r>
              <a:rPr lang="en-US" sz="1800" dirty="0">
                <a:latin typeface="Times New Roman" panose="02020603050405020304" pitchFamily="18" charset="0"/>
                <a:cs typeface="Times New Roman" panose="02020603050405020304" pitchFamily="18" charset="0"/>
              </a:rPr>
              <a:t>This allows the system to connect spoken content with visual changes such as slides, screen shares, and scene transitions.</a:t>
            </a:r>
            <a:endParaRPr sz="1800" b="1" dirty="0">
              <a:latin typeface="Times New Roman" panose="02020603050405020304" pitchFamily="18" charset="0"/>
              <a:ea typeface="Times New Roman"/>
              <a:cs typeface="Times New Roman" panose="02020603050405020304" pitchFamily="18" charset="0"/>
              <a:sym typeface="Times New Roman"/>
            </a:endParaRPr>
          </a:p>
        </p:txBody>
      </p:sp>
      <p:sp>
        <p:nvSpPr>
          <p:cNvPr id="2" name="Google Shape;111;p14">
            <a:extLst>
              <a:ext uri="{FF2B5EF4-FFF2-40B4-BE49-F238E27FC236}">
                <a16:creationId xmlns:a16="http://schemas.microsoft.com/office/drawing/2014/main" id="{E926844A-19D2-C2DB-82F4-6A74AAED5C6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FA6B2CE0-3622-5D53-6E66-B365319C448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6A3D7DE9-3512-D1F6-571F-3BE6676FB6C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9BE4791-03A4-CCF6-7FAE-E560643964C3}"/>
            </a:ext>
          </a:extLst>
        </p:cNvPr>
        <p:cNvGrpSpPr/>
        <p:nvPr/>
      </p:nvGrpSpPr>
      <p:grpSpPr>
        <a:xfrm>
          <a:off x="0" y="0"/>
          <a:ext cx="0" cy="0"/>
          <a:chOff x="0" y="0"/>
          <a:chExt cx="0" cy="0"/>
        </a:xfrm>
      </p:grpSpPr>
      <p:sp>
        <p:nvSpPr>
          <p:cNvPr id="163" name="Google Shape;163;p20">
            <a:extLst>
              <a:ext uri="{FF2B5EF4-FFF2-40B4-BE49-F238E27FC236}">
                <a16:creationId xmlns:a16="http://schemas.microsoft.com/office/drawing/2014/main" id="{F46436FB-B753-0FDE-2ADB-08C31514845A}"/>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Methodology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A53C823E-D968-DA55-902F-9C92816B5DA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D8097235-CCB2-6753-886A-7F5F0E93148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B38CEBFD-4C82-43E6-D449-5B1A90E634B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6" name="Text Placeholder 5">
            <a:extLst>
              <a:ext uri="{FF2B5EF4-FFF2-40B4-BE49-F238E27FC236}">
                <a16:creationId xmlns:a16="http://schemas.microsoft.com/office/drawing/2014/main" id="{79D8C27A-1A58-1D45-A0B5-584C11599D45}"/>
              </a:ext>
            </a:extLst>
          </p:cNvPr>
          <p:cNvSpPr>
            <a:spLocks noGrp="1"/>
          </p:cNvSpPr>
          <p:nvPr>
            <p:ph type="body" idx="1"/>
          </p:nvPr>
        </p:nvSpPr>
        <p:spPr/>
        <p:txBody>
          <a:bodyPr>
            <a:normAutofit/>
          </a:bodyPr>
          <a:lstStyle/>
          <a:p>
            <a:pPr marL="114300" indent="0">
              <a:buNone/>
            </a:pPr>
            <a:r>
              <a:rPr lang="en-US" sz="1800" dirty="0">
                <a:latin typeface="Times New Roman" panose="02020603050405020304" pitchFamily="18" charset="0"/>
                <a:cs typeface="Times New Roman" panose="02020603050405020304" pitchFamily="18" charset="0"/>
              </a:rPr>
              <a:t>This chapter presents the methodology followed for building the O.A.S.I.S prototype. The complete system is organized as a six-stage pipeline, where each stage produces structured output for the next stage. The overall architecture and data flow are illustrated in Figure 5.1. The benchmarked models are listed in Table 5.1, and the major design decisions are summarized in Table 5.2</a:t>
            </a:r>
          </a:p>
          <a:p>
            <a:pPr marL="114300" indent="0">
              <a:buNone/>
            </a:pPr>
            <a:r>
              <a:rPr lang="en-IN" sz="1800" b="1" dirty="0">
                <a:latin typeface="Times New Roman" panose="02020603050405020304" pitchFamily="18" charset="0"/>
                <a:cs typeface="Times New Roman" panose="02020603050405020304" pitchFamily="18" charset="0"/>
              </a:rPr>
              <a:t>5.1 Overview</a:t>
            </a:r>
          </a:p>
          <a:p>
            <a:pPr marL="114300" indent="0">
              <a:buNone/>
            </a:pPr>
            <a:r>
              <a:rPr lang="en-US" sz="1800" dirty="0">
                <a:latin typeface="Times New Roman" panose="02020603050405020304" pitchFamily="18" charset="0"/>
                <a:cs typeface="Times New Roman" panose="02020603050405020304" pitchFamily="18" charset="0"/>
              </a:rPr>
              <a:t>The prototype implements a fully open weight multimodal video understanding pipeline consisting of preprocessing, speech transcription with speaker diarization, visual scene understanding, multimodal fusion, comparative LLM benchmarking, and dashboard-based visualization. The system is designed to run entirely on open source models without relying on proprietary APIs. The benchmarked models are listed in Table 5.1, and the key design decisions are summarized in Table 5.2.</a:t>
            </a:r>
          </a:p>
          <a:p>
            <a:pPr marL="114300" indent="0">
              <a:buNone/>
            </a:pPr>
            <a:r>
              <a:rPr lang="en-IN" sz="1800" b="1" dirty="0">
                <a:latin typeface="Times New Roman" panose="02020603050405020304" pitchFamily="18" charset="0"/>
                <a:cs typeface="Times New Roman" panose="02020603050405020304" pitchFamily="18" charset="0"/>
              </a:rPr>
              <a:t>5.2 System Architecture</a:t>
            </a:r>
          </a:p>
          <a:p>
            <a:pPr marL="114300" indent="0">
              <a:buNone/>
            </a:pPr>
            <a:r>
              <a:rPr lang="en-US" sz="1800" dirty="0">
                <a:latin typeface="Times New Roman" panose="02020603050405020304" pitchFamily="18" charset="0"/>
                <a:cs typeface="Times New Roman" panose="02020603050405020304" pitchFamily="18" charset="0"/>
              </a:rPr>
              <a:t>The architecture follows a sequential pipeline design. It begins with video preprocessing through </a:t>
            </a:r>
            <a:r>
              <a:rPr lang="en-US" sz="1800" dirty="0" err="1">
                <a:latin typeface="Times New Roman" panose="02020603050405020304" pitchFamily="18" charset="0"/>
                <a:cs typeface="Times New Roman" panose="02020603050405020304" pitchFamily="18" charset="0"/>
              </a:rPr>
              <a:t>FFmpeg</a:t>
            </a:r>
            <a:r>
              <a:rPr lang="en-US" sz="1800" dirty="0">
                <a:latin typeface="Times New Roman" panose="02020603050405020304" pitchFamily="18" charset="0"/>
                <a:cs typeface="Times New Roman" panose="02020603050405020304" pitchFamily="18" charset="0"/>
              </a:rPr>
              <a:t>, proceeds through parallel audio and visual analysis tracks, merges both outputs in a multimodal fusion stage, and ends with model benchmarking and dashboard visualization.</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7296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6A778724-7EA2-64C0-833E-5B6F41D950A3}"/>
            </a:ext>
          </a:extLst>
        </p:cNvPr>
        <p:cNvGrpSpPr/>
        <p:nvPr/>
      </p:nvGrpSpPr>
      <p:grpSpPr>
        <a:xfrm>
          <a:off x="0" y="0"/>
          <a:ext cx="0" cy="0"/>
          <a:chOff x="0" y="0"/>
          <a:chExt cx="0" cy="0"/>
        </a:xfrm>
      </p:grpSpPr>
      <p:sp>
        <p:nvSpPr>
          <p:cNvPr id="163" name="Google Shape;163;p20">
            <a:extLst>
              <a:ext uri="{FF2B5EF4-FFF2-40B4-BE49-F238E27FC236}">
                <a16:creationId xmlns:a16="http://schemas.microsoft.com/office/drawing/2014/main" id="{483599FB-E08B-55BC-56F1-81880AF511AC}"/>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Methodology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BBBC2260-34FF-3450-EA2C-8C5CEE1B9DB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943D416D-D304-EC0C-6F0D-A8D5002A7A09}"/>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9325895A-F22A-8E22-2E7D-C5167252AD6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7" name="Text Placeholder 6">
            <a:extLst>
              <a:ext uri="{FF2B5EF4-FFF2-40B4-BE49-F238E27FC236}">
                <a16:creationId xmlns:a16="http://schemas.microsoft.com/office/drawing/2014/main" id="{18C6973E-17A9-3326-5555-36B9685B7B47}"/>
              </a:ext>
            </a:extLst>
          </p:cNvPr>
          <p:cNvSpPr>
            <a:spLocks noGrp="1"/>
          </p:cNvSpPr>
          <p:nvPr>
            <p:ph type="body" idx="1"/>
          </p:nvPr>
        </p:nvSpPr>
        <p:spPr/>
        <p:txBody>
          <a:bodyPr>
            <a:normAutofit/>
          </a:bodyPr>
          <a:lstStyle/>
          <a:p>
            <a:pPr marL="114300" indent="0">
              <a:buNone/>
            </a:pPr>
            <a:r>
              <a:rPr lang="en-US" sz="1800" b="1" dirty="0">
                <a:latin typeface="Times New Roman" panose="02020603050405020304" pitchFamily="18" charset="0"/>
                <a:cs typeface="Times New Roman" panose="02020603050405020304" pitchFamily="18" charset="0"/>
              </a:rPr>
              <a:t>5.3 Step by Step Methodology</a:t>
            </a:r>
          </a:p>
          <a:p>
            <a:pPr marL="114300" indent="0">
              <a:buNone/>
            </a:pPr>
            <a:r>
              <a:rPr lang="en-US" sz="1800" b="1" dirty="0">
                <a:latin typeface="Times New Roman" panose="02020603050405020304" pitchFamily="18" charset="0"/>
                <a:cs typeface="Times New Roman" panose="02020603050405020304" pitchFamily="18" charset="0"/>
              </a:rPr>
              <a:t>	5.3.1 Stage 1: Video Preprocessing</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preprocessing stage extracts the audio track as a 16 kHz mono WAV file, splits the video into 30 second 	chunks, and identifies scene changes using </a:t>
            </a:r>
            <a:r>
              <a:rPr lang="en-US" sz="1800" dirty="0" err="1">
                <a:latin typeface="Times New Roman" panose="02020603050405020304" pitchFamily="18" charset="0"/>
                <a:cs typeface="Times New Roman" panose="02020603050405020304" pitchFamily="18" charset="0"/>
              </a:rPr>
              <a:t>FFmpeg</a:t>
            </a:r>
            <a:r>
              <a:rPr lang="en-US" sz="1800" dirty="0">
                <a:latin typeface="Times New Roman" panose="02020603050405020304" pitchFamily="18" charset="0"/>
                <a:cs typeface="Times New Roman" panose="02020603050405020304" pitchFamily="18" charset="0"/>
              </a:rPr>
              <a:t> based scene detection. Representative keyframes are 	then extracted from each chunk for downstream visual analysis.</a:t>
            </a:r>
            <a:br>
              <a:rPr lang="en-US" sz="1800" b="1"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5.3.2 Stage 2: Transcription and Speaker Diarization</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This stage uses </a:t>
            </a:r>
            <a:r>
              <a:rPr lang="en-US" sz="1800" dirty="0" err="1">
                <a:latin typeface="Times New Roman" panose="02020603050405020304" pitchFamily="18" charset="0"/>
                <a:cs typeface="Times New Roman" panose="02020603050405020304" pitchFamily="18" charset="0"/>
              </a:rPr>
              <a:t>WhisperX</a:t>
            </a:r>
            <a:r>
              <a:rPr lang="en-US" sz="1800" dirty="0">
                <a:latin typeface="Times New Roman" panose="02020603050405020304" pitchFamily="18" charset="0"/>
                <a:cs typeface="Times New Roman" panose="02020603050405020304" pitchFamily="18" charset="0"/>
              </a:rPr>
              <a:t> for transcription, wav2vec2 for forced alignment, and </a:t>
            </a:r>
            <a:r>
              <a:rPr lang="en-US" sz="1800" dirty="0" err="1">
                <a:latin typeface="Times New Roman" panose="02020603050405020304" pitchFamily="18" charset="0"/>
                <a:cs typeface="Times New Roman" panose="02020603050405020304" pitchFamily="18" charset="0"/>
              </a:rPr>
              <a:t>Pyannote</a:t>
            </a:r>
            <a:r>
              <a:rPr lang="en-US" sz="1800" dirty="0">
                <a:latin typeface="Times New Roman" panose="02020603050405020304" pitchFamily="18" charset="0"/>
                <a:cs typeface="Times New Roman" panose="02020603050405020304" pitchFamily="18" charset="0"/>
              </a:rPr>
              <a:t> for speaker 	diarization. Word level speaker assignment is then performed so that each spoken word is mapped to the 	correct speaker at the correct timestamp. A three-layer strategy based on regex, dialogue heuristics, and LLM 	fallback is used for speaker name extraction.</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088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681C5BF7-2451-1591-B37D-B3BE4E80BE55}"/>
            </a:ext>
          </a:extLst>
        </p:cNvPr>
        <p:cNvGrpSpPr/>
        <p:nvPr/>
      </p:nvGrpSpPr>
      <p:grpSpPr>
        <a:xfrm>
          <a:off x="0" y="0"/>
          <a:ext cx="0" cy="0"/>
          <a:chOff x="0" y="0"/>
          <a:chExt cx="0" cy="0"/>
        </a:xfrm>
      </p:grpSpPr>
      <p:sp>
        <p:nvSpPr>
          <p:cNvPr id="163" name="Google Shape;163;p20">
            <a:extLst>
              <a:ext uri="{FF2B5EF4-FFF2-40B4-BE49-F238E27FC236}">
                <a16:creationId xmlns:a16="http://schemas.microsoft.com/office/drawing/2014/main" id="{B9475A8A-B987-FF32-E3B8-E9465F620AA9}"/>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Methodology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655EEF53-19CA-C2FC-12E2-AF8CF440ED3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BC7957B6-5A35-AF1C-53BE-638CCF614DD4}"/>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8BF91C26-38E6-DFFC-10A1-4CCB2EA7144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7" name="Text Placeholder 6">
            <a:extLst>
              <a:ext uri="{FF2B5EF4-FFF2-40B4-BE49-F238E27FC236}">
                <a16:creationId xmlns:a16="http://schemas.microsoft.com/office/drawing/2014/main" id="{65A57239-6FE2-38F6-F139-264C28656A20}"/>
              </a:ext>
            </a:extLst>
          </p:cNvPr>
          <p:cNvSpPr>
            <a:spLocks noGrp="1"/>
          </p:cNvSpPr>
          <p:nvPr>
            <p:ph type="body" idx="1"/>
          </p:nvPr>
        </p:nvSpPr>
        <p:spPr/>
        <p:txBody>
          <a:bodyPr>
            <a:normAutofit lnSpcReduction="10000"/>
          </a:bodyPr>
          <a:lstStyle/>
          <a:p>
            <a:pPr marL="114300" indent="0">
              <a:buNone/>
            </a:pPr>
            <a:r>
              <a:rPr lang="en-US" sz="1800" b="1" dirty="0">
                <a:latin typeface="Times New Roman" panose="02020603050405020304" pitchFamily="18" charset="0"/>
                <a:cs typeface="Times New Roman" panose="02020603050405020304" pitchFamily="18" charset="0"/>
              </a:rPr>
              <a:t>5.3 Step by Step Methodology</a:t>
            </a: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5.3.3 Stage 3: Visual Scene Understanding</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this stage, extracted keyframes are passed to Moondream2, which generates concise natural language 	descriptions of the scene. Duplicate descriptions within the same chunk are filtered and then grouped by 	time range.</a:t>
            </a:r>
            <a:br>
              <a:rPr lang="en-US" sz="1800"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5.3.4 Stage 4: Multimodal Fusion</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pipeline loads both transcript and visual context JSON files and builds a structured fusion prompt. This 	prompt includes speaker names, timestamped transcript segments, timestamped scene descriptions, and 	instructions for the model. If visual context is unavailable, the system falls back to audio only summarization.</a:t>
            </a:r>
            <a:br>
              <a:rPr lang="en-US" sz="1800"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	5.3.5 Stage 5: Comparative LLM Benchmarking</a:t>
            </a:r>
          </a:p>
          <a:p>
            <a:pPr marL="114300" indent="0">
              <a:buNone/>
            </a:pP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Each language model is loaded one at a time using 4-bit quantization to stay within GPU memory limits. The 	same fusion prompt is used across all models for a fair comparison. After inference, the model is deleted and 	GPU memory is explicitly cleared before loading the next one.</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404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9519498-465B-159A-23C9-9A4612972332}"/>
            </a:ext>
          </a:extLst>
        </p:cNvPr>
        <p:cNvGrpSpPr/>
        <p:nvPr/>
      </p:nvGrpSpPr>
      <p:grpSpPr>
        <a:xfrm>
          <a:off x="0" y="0"/>
          <a:ext cx="0" cy="0"/>
          <a:chOff x="0" y="0"/>
          <a:chExt cx="0" cy="0"/>
        </a:xfrm>
      </p:grpSpPr>
      <p:sp>
        <p:nvSpPr>
          <p:cNvPr id="163" name="Google Shape;163;p20">
            <a:extLst>
              <a:ext uri="{FF2B5EF4-FFF2-40B4-BE49-F238E27FC236}">
                <a16:creationId xmlns:a16="http://schemas.microsoft.com/office/drawing/2014/main" id="{82429E9C-B4FE-2529-96BB-177F90049626}"/>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Methodology</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D4D0778F-3B86-1515-319A-61CC8D961E35}"/>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8543225C-C011-D961-FFEB-BF7CCC6F2646}"/>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BAD2592D-8D03-D4A5-2987-CCB8C2EF708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7" name="Text Placeholder 6">
            <a:extLst>
              <a:ext uri="{FF2B5EF4-FFF2-40B4-BE49-F238E27FC236}">
                <a16:creationId xmlns:a16="http://schemas.microsoft.com/office/drawing/2014/main" id="{AB620717-3D10-02EF-4585-FD215FCA7F78}"/>
              </a:ext>
            </a:extLst>
          </p:cNvPr>
          <p:cNvSpPr>
            <a:spLocks noGrp="1"/>
          </p:cNvSpPr>
          <p:nvPr>
            <p:ph type="body" idx="1"/>
          </p:nvPr>
        </p:nvSpPr>
        <p:spPr/>
        <p:txBody>
          <a:bodyPr>
            <a:normAutofit/>
          </a:bodyPr>
          <a:lstStyle/>
          <a:p>
            <a:pPr marL="114300" indent="0">
              <a:buNone/>
            </a:pPr>
            <a:r>
              <a:rPr lang="en-US" sz="1800" b="1" dirty="0">
                <a:latin typeface="Times New Roman" panose="02020603050405020304" pitchFamily="18" charset="0"/>
                <a:cs typeface="Times New Roman" panose="02020603050405020304" pitchFamily="18" charset="0"/>
              </a:rPr>
              <a:t>5.3 Step by Step Methodology</a:t>
            </a:r>
          </a:p>
          <a:p>
            <a:pPr marL="114300" indent="0">
              <a:buNone/>
            </a:pP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5.3.3 Stage 6: </a:t>
            </a:r>
            <a:r>
              <a:rPr lang="en-IN" sz="1800" b="1" dirty="0"/>
              <a:t>Dashboard Visualization</a:t>
            </a:r>
          </a:p>
          <a:p>
            <a:pPr marL="114300" indent="0">
              <a:buNone/>
            </a:pPr>
            <a:r>
              <a:rPr lang="en-IN" sz="1800" b="1" dirty="0">
                <a:latin typeface="Times New Roman" panose="02020603050405020304" pitchFamily="18" charset="0"/>
                <a:cs typeface="Times New Roman" panose="02020603050405020304" pitchFamily="18" charset="0"/>
              </a:rPr>
              <a:t>	</a:t>
            </a:r>
            <a:r>
              <a:rPr lang="en-US" sz="1800" dirty="0"/>
              <a:t>A </a:t>
            </a:r>
            <a:r>
              <a:rPr lang="en-US" sz="1800" dirty="0" err="1"/>
              <a:t>Streamlit</a:t>
            </a:r>
            <a:r>
              <a:rPr lang="en-US" sz="1800" dirty="0"/>
              <a:t> dashboard is used to visualize generated summaries, compare model outputs side by side, and 	inspect benchmark metrics. This stage makes the output interactive and easier to interpret for the user.</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01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6EB314E4-B6BE-9D1C-4547-5DDD690145B2}"/>
            </a:ext>
          </a:extLst>
        </p:cNvPr>
        <p:cNvGrpSpPr/>
        <p:nvPr/>
      </p:nvGrpSpPr>
      <p:grpSpPr>
        <a:xfrm>
          <a:off x="0" y="0"/>
          <a:ext cx="0" cy="0"/>
          <a:chOff x="0" y="0"/>
          <a:chExt cx="0" cy="0"/>
        </a:xfrm>
      </p:grpSpPr>
      <p:sp>
        <p:nvSpPr>
          <p:cNvPr id="163" name="Google Shape;163;p20">
            <a:extLst>
              <a:ext uri="{FF2B5EF4-FFF2-40B4-BE49-F238E27FC236}">
                <a16:creationId xmlns:a16="http://schemas.microsoft.com/office/drawing/2014/main" id="{ACB054C8-AB6E-2484-D834-F03B62002674}"/>
              </a:ext>
            </a:extLst>
          </p:cNvPr>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US" dirty="0">
                <a:latin typeface="Times New Roman"/>
                <a:ea typeface="Times New Roman"/>
                <a:cs typeface="Times New Roman"/>
                <a:sym typeface="Times New Roman"/>
              </a:rPr>
              <a:t>Architecture</a:t>
            </a:r>
            <a:endParaRPr dirty="0">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99F39B0D-2C51-CB1F-60D9-25B63D7C61A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8C6052D6-842A-3C91-8363-824FD50E53E7}"/>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F6C226CA-B28A-59AA-D89C-2788C302F4D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9" name="Picture 8">
            <a:extLst>
              <a:ext uri="{FF2B5EF4-FFF2-40B4-BE49-F238E27FC236}">
                <a16:creationId xmlns:a16="http://schemas.microsoft.com/office/drawing/2014/main" id="{E4EE1A39-73DA-B9A4-4D1A-64D0F5A86B9A}"/>
              </a:ext>
            </a:extLst>
          </p:cNvPr>
          <p:cNvPicPr>
            <a:picLocks noChangeAspect="1"/>
          </p:cNvPicPr>
          <p:nvPr/>
        </p:nvPicPr>
        <p:blipFill>
          <a:blip r:embed="rId3"/>
          <a:stretch>
            <a:fillRect/>
          </a:stretch>
        </p:blipFill>
        <p:spPr>
          <a:xfrm>
            <a:off x="2325643" y="1528760"/>
            <a:ext cx="7540713" cy="4489276"/>
          </a:xfrm>
          <a:prstGeom prst="rect">
            <a:avLst/>
          </a:prstGeom>
        </p:spPr>
      </p:pic>
    </p:spTree>
    <p:extLst>
      <p:ext uri="{BB962C8B-B14F-4D97-AF65-F5344CB8AC3E}">
        <p14:creationId xmlns:p14="http://schemas.microsoft.com/office/powerpoint/2010/main" val="3368517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265545" y="-3"/>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01" name="Google Shape;201;p24"/>
          <p:cNvSpPr txBox="1">
            <a:spLocks noGrp="1"/>
          </p:cNvSpPr>
          <p:nvPr>
            <p:ph type="body" idx="1"/>
          </p:nvPr>
        </p:nvSpPr>
        <p:spPr>
          <a:xfrm>
            <a:off x="182400" y="1757150"/>
            <a:ext cx="11827200" cy="4159800"/>
          </a:xfrm>
          <a:prstGeom prst="rect">
            <a:avLst/>
          </a:prstGeom>
          <a:noFill/>
          <a:ln>
            <a:noFill/>
          </a:ln>
        </p:spPr>
        <p:txBody>
          <a:bodyPr spcFirstLastPara="1" wrap="square" lIns="91425" tIns="45700" rIns="91425" bIns="45700" anchor="t" anchorCtr="0">
            <a:noAutofit/>
          </a:bodyPr>
          <a:lstStyle/>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[1] Breaking Down Authors. Breaking down video </a:t>
            </a:r>
            <a:r>
              <a:rPr lang="en-US" sz="1600" dirty="0" err="1">
                <a:latin typeface="Times New Roman" panose="02020603050405020304" pitchFamily="18" charset="0"/>
                <a:cs typeface="Times New Roman" panose="02020603050405020304" pitchFamily="18" charset="0"/>
              </a:rPr>
              <a:t>llm</a:t>
            </a:r>
            <a:r>
              <a:rPr lang="en-US" sz="1600" dirty="0">
                <a:latin typeface="Times New Roman" panose="02020603050405020304" pitchFamily="18" charset="0"/>
                <a:cs typeface="Times New Roman" panose="02020603050405020304" pitchFamily="18" charset="0"/>
              </a:rPr>
              <a:t> benchmarks: Knowledge, spatial, temporal. </a:t>
            </a:r>
            <a:r>
              <a:rPr lang="en-US" sz="1600" dirty="0">
                <a:latin typeface="Times New Roman" panose="02020603050405020304" pitchFamily="18" charset="0"/>
                <a:cs typeface="Times New Roman" panose="02020603050405020304" pitchFamily="18" charset="0"/>
                <a:hlinkClick r:id="rId3"/>
              </a:rPr>
              <a:t>https://machinelearning.apple.com/research/breaking-down, 2024</a:t>
            </a:r>
            <a:r>
              <a:rPr lang="en-US" sz="1600" dirty="0">
                <a:latin typeface="Times New Roman" panose="02020603050405020304" pitchFamily="18" charset="0"/>
                <a:cs typeface="Times New Roman" panose="02020603050405020304" pitchFamily="18" charset="0"/>
              </a:rPr>
              <a:t>. Apple Machine Learning Research.</a:t>
            </a:r>
          </a:p>
          <a:p>
            <a:pPr marL="228600" lvl="0" indent="-50800">
              <a:spcBef>
                <a:spcPts val="400"/>
              </a:spcBef>
              <a:buSzPts val="2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[2] Generating Minutes Authors. Generating minutes of meeting using </a:t>
            </a:r>
            <a:r>
              <a:rPr lang="en-US" sz="1600" dirty="0" err="1">
                <a:latin typeface="Times New Roman" panose="02020603050405020304" pitchFamily="18" charset="0"/>
                <a:cs typeface="Times New Roman" panose="02020603050405020304" pitchFamily="18" charset="0"/>
              </a:rPr>
              <a:t>llm</a:t>
            </a: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hlinkClick r:id="rId4"/>
              </a:rPr>
              <a:t>https://zenodo. org/records/13269298, 2023. </a:t>
            </a:r>
            <a:r>
              <a:rPr lang="en-US" sz="1600" dirty="0" err="1">
                <a:latin typeface="Times New Roman" panose="02020603050405020304" pitchFamily="18" charset="0"/>
                <a:cs typeface="Times New Roman" panose="02020603050405020304" pitchFamily="18" charset="0"/>
                <a:hlinkClick r:id="rId4"/>
              </a:rPr>
              <a:t>Zenodo</a:t>
            </a:r>
            <a:r>
              <a:rPr lang="en-US" sz="1600" dirty="0">
                <a:latin typeface="Times New Roman" panose="02020603050405020304" pitchFamily="18" charset="0"/>
                <a:cs typeface="Times New Roman" panose="02020603050405020304" pitchFamily="18" charset="0"/>
                <a:hlinkClick r:id="rId4"/>
              </a:rPr>
              <a:t>.</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[3] J. Heseltine and co authors. Comparing large language models for text classification: Model selection across tasks, texts, and languages. </a:t>
            </a:r>
            <a:r>
              <a:rPr lang="en-US" sz="1600" dirty="0">
                <a:latin typeface="Times New Roman" panose="02020603050405020304" pitchFamily="18" charset="0"/>
                <a:cs typeface="Times New Roman" panose="02020603050405020304" pitchFamily="18" charset="0"/>
                <a:hlinkClick r:id="rId5"/>
              </a:rPr>
              <a:t>https://sciety.org/articles/activity/ 10.31219/osf.io/jvgc5_v2, 2024. OSF.</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IN" sz="1600" dirty="0">
                <a:latin typeface="Times New Roman" panose="02020603050405020304" pitchFamily="18" charset="0"/>
                <a:cs typeface="Times New Roman" panose="02020603050405020304" pitchFamily="18" charset="0"/>
              </a:rPr>
              <a:t>[4] HourVideo Authors. </a:t>
            </a:r>
            <a:r>
              <a:rPr lang="en-IN" sz="1600" dirty="0" err="1">
                <a:latin typeface="Times New Roman" panose="02020603050405020304" pitchFamily="18" charset="0"/>
                <a:cs typeface="Times New Roman" panose="02020603050405020304" pitchFamily="18" charset="0"/>
              </a:rPr>
              <a:t>Hourvideo</a:t>
            </a:r>
            <a:r>
              <a:rPr lang="en-IN" sz="1600" dirty="0">
                <a:latin typeface="Times New Roman" panose="02020603050405020304" pitchFamily="18" charset="0"/>
                <a:cs typeface="Times New Roman" panose="02020603050405020304" pitchFamily="18" charset="0"/>
              </a:rPr>
              <a:t>: 1-hour video-language understanding. </a:t>
            </a:r>
            <a:r>
              <a:rPr lang="en-IN" sz="1600" dirty="0">
                <a:latin typeface="Times New Roman" panose="02020603050405020304" pitchFamily="18" charset="0"/>
                <a:cs typeface="Times New Roman" panose="02020603050405020304" pitchFamily="18" charset="0"/>
                <a:hlinkClick r:id="rId6"/>
              </a:rPr>
              <a:t>https://arxiv. org/abs/2411.04998, 2024. </a:t>
            </a:r>
            <a:r>
              <a:rPr lang="en-IN" sz="1600" dirty="0" err="1">
                <a:latin typeface="Times New Roman" panose="02020603050405020304" pitchFamily="18" charset="0"/>
                <a:cs typeface="Times New Roman" panose="02020603050405020304" pitchFamily="18" charset="0"/>
                <a:hlinkClick r:id="rId6"/>
              </a:rPr>
              <a:t>arXiv</a:t>
            </a:r>
            <a:r>
              <a:rPr lang="en-IN" sz="1600" dirty="0">
                <a:latin typeface="Times New Roman" panose="02020603050405020304" pitchFamily="18" charset="0"/>
                <a:cs typeface="Times New Roman" panose="02020603050405020304" pitchFamily="18" charset="0"/>
                <a:hlinkClick r:id="rId6"/>
              </a:rPr>
              <a:t> preprint arXiv:2411.04998.</a:t>
            </a:r>
            <a:endParaRPr lang="en-IN"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IN"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IN" sz="1600" dirty="0">
                <a:latin typeface="Times New Roman" panose="02020603050405020304" pitchFamily="18" charset="0"/>
                <a:cs typeface="Times New Roman" panose="02020603050405020304" pitchFamily="18" charset="0"/>
              </a:rPr>
              <a:t>[5] LongVideoBench Authors. </a:t>
            </a:r>
            <a:r>
              <a:rPr lang="en-IN" sz="1600" dirty="0" err="1">
                <a:latin typeface="Times New Roman" panose="02020603050405020304" pitchFamily="18" charset="0"/>
                <a:cs typeface="Times New Roman" panose="02020603050405020304" pitchFamily="18" charset="0"/>
              </a:rPr>
              <a:t>Longvideobench</a:t>
            </a:r>
            <a:r>
              <a:rPr lang="en-IN" sz="1600" dirty="0">
                <a:latin typeface="Times New Roman" panose="02020603050405020304" pitchFamily="18" charset="0"/>
                <a:cs typeface="Times New Roman" panose="02020603050405020304" pitchFamily="18" charset="0"/>
              </a:rPr>
              <a:t>: A benchmark for long-context interleaved video-language understanding. </a:t>
            </a:r>
            <a:r>
              <a:rPr lang="en-IN" sz="1600" dirty="0">
                <a:latin typeface="Times New Roman" panose="02020603050405020304" pitchFamily="18" charset="0"/>
                <a:cs typeface="Times New Roman" panose="02020603050405020304" pitchFamily="18" charset="0"/>
                <a:hlinkClick r:id="rId7"/>
              </a:rPr>
              <a:t>https://arxiv.org/abs/2407.15754, 2024. </a:t>
            </a:r>
            <a:r>
              <a:rPr lang="en-IN" sz="1600" dirty="0" err="1">
                <a:latin typeface="Times New Roman" panose="02020603050405020304" pitchFamily="18" charset="0"/>
                <a:cs typeface="Times New Roman" panose="02020603050405020304" pitchFamily="18" charset="0"/>
                <a:hlinkClick r:id="rId7"/>
              </a:rPr>
              <a:t>arXiv</a:t>
            </a:r>
            <a:r>
              <a:rPr lang="en-IN" sz="1600" dirty="0">
                <a:latin typeface="Times New Roman" panose="02020603050405020304" pitchFamily="18" charset="0"/>
                <a:cs typeface="Times New Roman" panose="02020603050405020304" pitchFamily="18" charset="0"/>
                <a:hlinkClick r:id="rId7"/>
              </a:rPr>
              <a:t> preprint arXiv:2407.15754.</a:t>
            </a:r>
            <a:endParaRPr lang="en-IN" sz="1600" dirty="0">
              <a:latin typeface="Times New Roman" panose="02020603050405020304" pitchFamily="18" charset="0"/>
              <a:cs typeface="Times New Roman" panose="02020603050405020304" pitchFamily="18" charset="0"/>
            </a:endParaRPr>
          </a:p>
        </p:txBody>
      </p:sp>
      <p:sp>
        <p:nvSpPr>
          <p:cNvPr id="2" name="Google Shape;111;p14">
            <a:extLst>
              <a:ext uri="{FF2B5EF4-FFF2-40B4-BE49-F238E27FC236}">
                <a16:creationId xmlns:a16="http://schemas.microsoft.com/office/drawing/2014/main" id="{5140BEA1-C84F-8CB6-7167-430FA965CD55}"/>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3D8B4300-D082-3811-A107-469B00C0BB8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EA4A7978-E431-0AB2-6F71-E4EDB8BD0A5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5"/>
          <p:cNvSpPr txBox="1">
            <a:spLocks noGrp="1"/>
          </p:cNvSpPr>
          <p:nvPr>
            <p:ph type="body" idx="1"/>
          </p:nvPr>
        </p:nvSpPr>
        <p:spPr>
          <a:xfrm>
            <a:off x="182400" y="1686200"/>
            <a:ext cx="11827200" cy="3876400"/>
          </a:xfrm>
          <a:prstGeom prst="rect">
            <a:avLst/>
          </a:prstGeom>
          <a:noFill/>
          <a:ln>
            <a:noFill/>
          </a:ln>
        </p:spPr>
        <p:txBody>
          <a:bodyPr spcFirstLastPara="1" wrap="square" lIns="91425" tIns="45700" rIns="91425" bIns="45700" anchor="t" anchorCtr="0">
            <a:noAutofit/>
          </a:bodyPr>
          <a:lstStyle/>
          <a:p>
            <a:pPr marL="228600" indent="-50800">
              <a:spcBef>
                <a:spcPts val="400"/>
              </a:spcBef>
              <a:buSzPts val="2800"/>
              <a:buNone/>
            </a:pPr>
            <a:r>
              <a:rPr lang="en-US" sz="1600" dirty="0">
                <a:latin typeface="Times New Roman" panose="02020603050405020304" pitchFamily="18" charset="0"/>
                <a:cs typeface="Times New Roman" panose="02020603050405020304" pitchFamily="18" charset="0"/>
              </a:rPr>
              <a:t>[6] </a:t>
            </a:r>
            <a:r>
              <a:rPr lang="en-US" sz="1600" dirty="0" err="1">
                <a:latin typeface="Times New Roman" panose="02020603050405020304" pitchFamily="18" charset="0"/>
                <a:cs typeface="Times New Roman" panose="02020603050405020304" pitchFamily="18" charset="0"/>
              </a:rPr>
              <a:t>MeetingBank</a:t>
            </a:r>
            <a:r>
              <a:rPr lang="en-US" sz="1600" dirty="0">
                <a:latin typeface="Times New Roman" panose="02020603050405020304" pitchFamily="18" charset="0"/>
                <a:cs typeface="Times New Roman" panose="02020603050405020304" pitchFamily="18" charset="0"/>
              </a:rPr>
              <a:t> Authors. </a:t>
            </a:r>
            <a:r>
              <a:rPr lang="en-US" sz="1600" dirty="0" err="1">
                <a:latin typeface="Times New Roman" panose="02020603050405020304" pitchFamily="18" charset="0"/>
                <a:cs typeface="Times New Roman" panose="02020603050405020304" pitchFamily="18" charset="0"/>
              </a:rPr>
              <a:t>Meetingbank</a:t>
            </a:r>
            <a:r>
              <a:rPr lang="en-US" sz="1600" dirty="0">
                <a:latin typeface="Times New Roman" panose="02020603050405020304" pitchFamily="18" charset="0"/>
                <a:cs typeface="Times New Roman" panose="02020603050405020304" pitchFamily="18" charset="0"/>
              </a:rPr>
              <a:t>: A benchmark dataset for meeting summarization. </a:t>
            </a:r>
            <a:r>
              <a:rPr lang="en-US" sz="1600" dirty="0">
                <a:latin typeface="Times New Roman" panose="02020603050405020304" pitchFamily="18" charset="0"/>
                <a:cs typeface="Times New Roman" panose="02020603050405020304" pitchFamily="18" charset="0"/>
                <a:hlinkClick r:id="rId3"/>
              </a:rPr>
              <a:t>https://arxiv.org/abs/2305.17529, 2023. ACL 2023</a:t>
            </a:r>
            <a:r>
              <a:rPr lang="en-US" sz="1600" dirty="0">
                <a:latin typeface="Times New Roman" panose="02020603050405020304" pitchFamily="18" charset="0"/>
                <a:cs typeface="Times New Roman" panose="02020603050405020304" pitchFamily="18" charset="0"/>
              </a:rPr>
              <a:t>.</a:t>
            </a:r>
          </a:p>
          <a:p>
            <a:pPr marL="228600" lvl="0" indent="-50800">
              <a:spcBef>
                <a:spcPts val="400"/>
              </a:spcBef>
              <a:buSzPts val="2800"/>
              <a:buNone/>
            </a:pP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[7] MISP-Meeting Authors. </a:t>
            </a:r>
            <a:r>
              <a:rPr lang="en-US" sz="1600" dirty="0" err="1">
                <a:latin typeface="Times New Roman" panose="02020603050405020304" pitchFamily="18" charset="0"/>
                <a:cs typeface="Times New Roman" panose="02020603050405020304" pitchFamily="18" charset="0"/>
              </a:rPr>
              <a:t>Misp</a:t>
            </a:r>
            <a:r>
              <a:rPr lang="en-US" sz="1600" dirty="0">
                <a:latin typeface="Times New Roman" panose="02020603050405020304" pitchFamily="18" charset="0"/>
                <a:cs typeface="Times New Roman" panose="02020603050405020304" pitchFamily="18" charset="0"/>
              </a:rPr>
              <a:t>-meeting: A real-world dataset with multimodal cues for long-form meeting transcription and summarization. </a:t>
            </a:r>
            <a:r>
              <a:rPr lang="en-US" sz="1600" dirty="0">
                <a:latin typeface="Times New Roman" panose="02020603050405020304" pitchFamily="18" charset="0"/>
                <a:cs typeface="Times New Roman" panose="02020603050405020304" pitchFamily="18" charset="0"/>
                <a:hlinkClick r:id="rId4"/>
              </a:rPr>
              <a:t>https://aclanthology.org/2025. acl-long.753/, 2025. ACL 2025.</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[8] OASIS Team. Oasis: On-demand hierarchical event memory for streaming video reasoning. </a:t>
            </a:r>
            <a:r>
              <a:rPr lang="en-US" sz="1600" dirty="0">
                <a:latin typeface="Times New Roman" panose="02020603050405020304" pitchFamily="18" charset="0"/>
                <a:cs typeface="Times New Roman" panose="02020603050405020304" pitchFamily="18" charset="0"/>
                <a:hlinkClick r:id="rId5"/>
              </a:rPr>
              <a:t>https://arxiv.org/abs/2604.17052</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[9] </a:t>
            </a:r>
            <a:r>
              <a:rPr lang="en-US" sz="1600" dirty="0" err="1">
                <a:latin typeface="Times New Roman" panose="02020603050405020304" pitchFamily="18" charset="0"/>
                <a:cs typeface="Times New Roman" panose="02020603050405020304" pitchFamily="18" charset="0"/>
              </a:rPr>
              <a:t>QMSum</a:t>
            </a:r>
            <a:r>
              <a:rPr lang="en-US" sz="1600" dirty="0">
                <a:latin typeface="Times New Roman" panose="02020603050405020304" pitchFamily="18" charset="0"/>
                <a:cs typeface="Times New Roman" panose="02020603050405020304" pitchFamily="18" charset="0"/>
              </a:rPr>
              <a:t> Authors. </a:t>
            </a:r>
            <a:r>
              <a:rPr lang="en-US" sz="1600" dirty="0" err="1">
                <a:latin typeface="Times New Roman" panose="02020603050405020304" pitchFamily="18" charset="0"/>
                <a:cs typeface="Times New Roman" panose="02020603050405020304" pitchFamily="18" charset="0"/>
              </a:rPr>
              <a:t>Qmsum</a:t>
            </a:r>
            <a:r>
              <a:rPr lang="en-US" sz="1600" dirty="0">
                <a:latin typeface="Times New Roman" panose="02020603050405020304" pitchFamily="18" charset="0"/>
                <a:cs typeface="Times New Roman" panose="02020603050405020304" pitchFamily="18" charset="0"/>
              </a:rPr>
              <a:t>: A new benchmark for query-based multi-domain meeting summarization</a:t>
            </a:r>
            <a:r>
              <a:rPr lang="en-US" sz="1600" dirty="0">
                <a:latin typeface="Times New Roman" panose="02020603050405020304" pitchFamily="18" charset="0"/>
                <a:cs typeface="Times New Roman" panose="02020603050405020304" pitchFamily="18" charset="0"/>
                <a:hlinkClick r:id="rId6"/>
              </a:rPr>
              <a:t>https://arxiv.org/abs/2104.05938</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ea typeface="Times New Roman"/>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[10] Query-Based Authors. Query-based video summarization with pseudo label supervision. </a:t>
            </a:r>
            <a:r>
              <a:rPr lang="en-US" sz="1600" dirty="0">
                <a:latin typeface="Times New Roman" panose="02020603050405020304" pitchFamily="18" charset="0"/>
                <a:cs typeface="Times New Roman" panose="02020603050405020304" pitchFamily="18" charset="0"/>
                <a:hlinkClick r:id="rId7"/>
              </a:rPr>
              <a:t>https://arxiv.org/abs/2307.01945</a:t>
            </a:r>
            <a:r>
              <a:rPr lang="en-US" sz="1600" dirty="0">
                <a:latin typeface="Times New Roman" panose="02020603050405020304" pitchFamily="18" charset="0"/>
                <a:cs typeface="Times New Roman" panose="02020603050405020304" pitchFamily="18" charset="0"/>
              </a:rPr>
              <a:t>.</a:t>
            </a:r>
          </a:p>
        </p:txBody>
      </p:sp>
      <p:sp>
        <p:nvSpPr>
          <p:cNvPr id="210" name="Google Shape;210;p25"/>
          <p:cNvSpPr txBox="1">
            <a:spLocks noGrp="1"/>
          </p:cNvSpPr>
          <p:nvPr>
            <p:ph type="title"/>
          </p:nvPr>
        </p:nvSpPr>
        <p:spPr>
          <a:xfrm>
            <a:off x="265545" y="-3"/>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21AE2A97-EF16-B8B3-7567-182D937FF17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E7C511C9-1A16-3AA7-50B2-1E66608BFA0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F7D8127C-1094-6CB8-49E3-115C3AE1853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45150344-5BD8-81DB-B526-C3EC9DD9207F}"/>
            </a:ext>
          </a:extLst>
        </p:cNvPr>
        <p:cNvGrpSpPr/>
        <p:nvPr/>
      </p:nvGrpSpPr>
      <p:grpSpPr>
        <a:xfrm>
          <a:off x="0" y="0"/>
          <a:ext cx="0" cy="0"/>
          <a:chOff x="0" y="0"/>
          <a:chExt cx="0" cy="0"/>
        </a:xfrm>
      </p:grpSpPr>
      <p:sp>
        <p:nvSpPr>
          <p:cNvPr id="209" name="Google Shape;209;p25">
            <a:extLst>
              <a:ext uri="{FF2B5EF4-FFF2-40B4-BE49-F238E27FC236}">
                <a16:creationId xmlns:a16="http://schemas.microsoft.com/office/drawing/2014/main" id="{23DF964A-B905-5FAA-6395-230F4CC48053}"/>
              </a:ext>
            </a:extLst>
          </p:cNvPr>
          <p:cNvSpPr txBox="1">
            <a:spLocks noGrp="1"/>
          </p:cNvSpPr>
          <p:nvPr>
            <p:ph type="body" idx="1"/>
          </p:nvPr>
        </p:nvSpPr>
        <p:spPr>
          <a:xfrm>
            <a:off x="182400" y="1686200"/>
            <a:ext cx="11827200" cy="3876400"/>
          </a:xfrm>
          <a:prstGeom prst="rect">
            <a:avLst/>
          </a:prstGeom>
          <a:noFill/>
          <a:ln>
            <a:noFill/>
          </a:ln>
        </p:spPr>
        <p:txBody>
          <a:bodyPr spcFirstLastPara="1" wrap="square" lIns="91425" tIns="45700" rIns="91425" bIns="45700" anchor="t" anchorCtr="0">
            <a:noAutofit/>
          </a:bodyPr>
          <a:lstStyle/>
          <a:p>
            <a:pPr marL="228600" indent="-50800">
              <a:spcBef>
                <a:spcPts val="400"/>
              </a:spcBef>
              <a:buSzPts val="2800"/>
              <a:buNone/>
            </a:pPr>
            <a:r>
              <a:rPr lang="en-US" sz="1600" dirty="0">
                <a:latin typeface="Times New Roman" panose="02020603050405020304" pitchFamily="18" charset="0"/>
                <a:cs typeface="Times New Roman" panose="02020603050405020304" pitchFamily="18" charset="0"/>
              </a:rPr>
              <a:t>[11] Scaling Up Authors. Scaling up video summarization pretraining with large language models. </a:t>
            </a:r>
            <a:r>
              <a:rPr lang="en-US" sz="1600" dirty="0">
                <a:latin typeface="Times New Roman" panose="02020603050405020304" pitchFamily="18" charset="0"/>
                <a:cs typeface="Times New Roman" panose="02020603050405020304" pitchFamily="18" charset="0"/>
                <a:hlinkClick r:id="rId3"/>
              </a:rPr>
              <a:t>https://doi.org/10.48550/arXiv.2404.03398</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sym typeface="Times New Roman"/>
            </a:endParaRPr>
          </a:p>
          <a:p>
            <a:pPr marL="228600" lvl="0" indent="-50800">
              <a:spcBef>
                <a:spcPts val="400"/>
              </a:spcBef>
              <a:buSzPts val="2800"/>
              <a:buNone/>
            </a:pPr>
            <a:endParaRPr lang="en-IN"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r>
              <a:rPr lang="en-IN" sz="1600" dirty="0">
                <a:latin typeface="Times New Roman" panose="02020603050405020304" pitchFamily="18" charset="0"/>
                <a:cs typeface="Times New Roman" panose="02020603050405020304" pitchFamily="18" charset="0"/>
              </a:rPr>
              <a:t>[12] Train enables Short Authors. zero-shot </a:t>
            </a:r>
            <a:r>
              <a:rPr lang="en-IN" sz="1600" dirty="0" err="1">
                <a:latin typeface="Times New Roman" panose="02020603050405020304" pitchFamily="18" charset="0"/>
                <a:cs typeface="Times New Roman" panose="02020603050405020304" pitchFamily="18" charset="0"/>
              </a:rPr>
              <a:t>streamable</a:t>
            </a:r>
            <a:r>
              <a:rPr lang="en-IN" sz="1600" dirty="0">
                <a:latin typeface="Times New Roman" panose="02020603050405020304" pitchFamily="18" charset="0"/>
                <a:cs typeface="Times New Roman" panose="02020603050405020304" pitchFamily="18" charset="0"/>
              </a:rPr>
              <a:t> Train joint short, </a:t>
            </a:r>
            <a:r>
              <a:rPr lang="en-IN" sz="1600" dirty="0" err="1">
                <a:latin typeface="Times New Roman" panose="02020603050405020304" pitchFamily="18" charset="0"/>
                <a:cs typeface="Times New Roman" panose="02020603050405020304" pitchFamily="18" charset="0"/>
              </a:rPr>
              <a:t>asr</a:t>
            </a:r>
            <a:r>
              <a:rPr lang="en-IN" sz="1600" dirty="0">
                <a:latin typeface="Times New Roman" panose="02020603050405020304" pitchFamily="18" charset="0"/>
                <a:cs typeface="Times New Roman" panose="02020603050405020304" pitchFamily="18" charset="0"/>
              </a:rPr>
              <a:t> infer and long: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Speech-</a:t>
            </a:r>
            <a:r>
              <a:rPr lang="en-IN" sz="1600" dirty="0" err="1">
                <a:latin typeface="Times New Roman" panose="02020603050405020304" pitchFamily="18" charset="0"/>
                <a:cs typeface="Times New Roman" panose="02020603050405020304" pitchFamily="18" charset="0"/>
              </a:rPr>
              <a:t>llm</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diarization</a:t>
            </a:r>
            <a:r>
              <a:rPr lang="en-IN" sz="1600" dirty="0">
                <a:latin typeface="Times New Roman" panose="02020603050405020304" pitchFamily="18" charset="0"/>
                <a:cs typeface="Times New Roman" panose="02020603050405020304" pitchFamily="18" charset="0"/>
              </a:rPr>
              <a:t> audio. on long </a:t>
            </a:r>
            <a:r>
              <a:rPr lang="en-IN" sz="1600" dirty="0">
                <a:latin typeface="Times New Roman" panose="02020603050405020304" pitchFamily="18" charset="0"/>
                <a:cs typeface="Times New Roman" panose="02020603050405020304" pitchFamily="18" charset="0"/>
                <a:hlinkClick r:id="rId4"/>
              </a:rPr>
              <a:t>https://www.microsoft.com</a:t>
            </a:r>
            <a:endParaRPr lang="en-IN"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IN" sz="1600" dirty="0">
              <a:latin typeface="Times New Roman" panose="02020603050405020304" pitchFamily="18" charset="0"/>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[13] Video Summarization Authors. Video summarization with long short-term memory. </a:t>
            </a:r>
            <a:r>
              <a:rPr lang="en-US" sz="1600" dirty="0">
                <a:latin typeface="Times New Roman" panose="02020603050405020304" pitchFamily="18" charset="0"/>
                <a:cs typeface="Times New Roman" panose="02020603050405020304" pitchFamily="18" charset="0"/>
                <a:hlinkClick r:id="rId5"/>
              </a:rPr>
              <a:t>https://arxiv.org/abs/1605.08110</a:t>
            </a:r>
            <a:endParaRPr lang="en-US" sz="1600" dirty="0">
              <a:latin typeface="Times New Roman" panose="02020603050405020304" pitchFamily="18" charset="0"/>
              <a:cs typeface="Times New Roman" panose="02020603050405020304" pitchFamily="18" charset="0"/>
            </a:endParaRPr>
          </a:p>
          <a:p>
            <a:pPr marL="228600" lvl="0" indent="-50800">
              <a:spcBef>
                <a:spcPts val="400"/>
              </a:spcBef>
              <a:buSzPts val="2800"/>
              <a:buNone/>
            </a:pPr>
            <a:endParaRPr lang="en-US" sz="1600" dirty="0">
              <a:latin typeface="Times New Roman" panose="02020603050405020304" pitchFamily="18" charset="0"/>
              <a:cs typeface="Times New Roman" panose="02020603050405020304" pitchFamily="18" charset="0"/>
              <a:sym typeface="Times New Roman"/>
            </a:endParaRPr>
          </a:p>
          <a:p>
            <a:pPr marL="228600" lvl="0" indent="-50800">
              <a:spcBef>
                <a:spcPts val="400"/>
              </a:spcBef>
              <a:buSzPts val="2800"/>
              <a:buNone/>
            </a:pPr>
            <a:r>
              <a:rPr lang="en-US" sz="1600" dirty="0">
                <a:latin typeface="Times New Roman" panose="02020603050405020304" pitchFamily="18" charset="0"/>
                <a:cs typeface="Times New Roman" panose="02020603050405020304" pitchFamily="18" charset="0"/>
              </a:rPr>
              <a:t>[14] Your Interest Authors. Your interest, your summaries: Query-focused long video summarization. </a:t>
            </a:r>
            <a:r>
              <a:rPr lang="en-US" sz="1600" dirty="0">
                <a:latin typeface="Times New Roman" panose="02020603050405020304" pitchFamily="18" charset="0"/>
                <a:cs typeface="Times New Roman" panose="02020603050405020304" pitchFamily="18" charset="0"/>
                <a:hlinkClick r:id="rId6"/>
              </a:rPr>
              <a:t>https://arxiv.org/abs/2410.14087</a:t>
            </a:r>
            <a:endParaRPr lang="en-IN" sz="1600" dirty="0">
              <a:latin typeface="Times New Roman" panose="02020603050405020304" pitchFamily="18" charset="0"/>
              <a:cs typeface="Times New Roman" panose="02020603050405020304" pitchFamily="18" charset="0"/>
              <a:sym typeface="Times New Roman"/>
            </a:endParaRPr>
          </a:p>
        </p:txBody>
      </p:sp>
      <p:sp>
        <p:nvSpPr>
          <p:cNvPr id="210" name="Google Shape;210;p25">
            <a:extLst>
              <a:ext uri="{FF2B5EF4-FFF2-40B4-BE49-F238E27FC236}">
                <a16:creationId xmlns:a16="http://schemas.microsoft.com/office/drawing/2014/main" id="{BACC7364-49A5-E031-9886-73B8DB9BC2EC}"/>
              </a:ext>
            </a:extLst>
          </p:cNvPr>
          <p:cNvSpPr txBox="1">
            <a:spLocks noGrp="1"/>
          </p:cNvSpPr>
          <p:nvPr>
            <p:ph type="title"/>
          </p:nvPr>
        </p:nvSpPr>
        <p:spPr>
          <a:xfrm>
            <a:off x="265545" y="-3"/>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r>
              <a:rPr lang="en-I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 name="Google Shape;111;p14">
            <a:extLst>
              <a:ext uri="{FF2B5EF4-FFF2-40B4-BE49-F238E27FC236}">
                <a16:creationId xmlns:a16="http://schemas.microsoft.com/office/drawing/2014/main" id="{62E072E8-D869-094A-9B89-257EBA0D58B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Font typeface="Arial"/>
              <a:buNone/>
            </a:pPr>
            <a:r>
              <a:rPr lang="en-IN" dirty="0"/>
              <a:t>June 04, 2026</a:t>
            </a:r>
            <a:endParaRPr dirty="0"/>
          </a:p>
        </p:txBody>
      </p:sp>
      <p:sp>
        <p:nvSpPr>
          <p:cNvPr id="3" name="Google Shape;112;p14">
            <a:extLst>
              <a:ext uri="{FF2B5EF4-FFF2-40B4-BE49-F238E27FC236}">
                <a16:creationId xmlns:a16="http://schemas.microsoft.com/office/drawing/2014/main" id="{5E96CB27-1BE4-544C-0A70-FCC9B64D526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O.A.S.I.S</a:t>
            </a:r>
            <a:endParaRPr dirty="0"/>
          </a:p>
          <a:p>
            <a:pPr marL="0" lvl="0" indent="0" algn="ctr" rtl="0">
              <a:spcBef>
                <a:spcPts val="0"/>
              </a:spcBef>
              <a:spcAft>
                <a:spcPts val="0"/>
              </a:spcAft>
              <a:buNone/>
            </a:pPr>
            <a:r>
              <a:rPr lang="en-IN" dirty="0"/>
              <a:t>Department of Information Science &amp; Engineering</a:t>
            </a:r>
            <a:endParaRPr dirty="0"/>
          </a:p>
        </p:txBody>
      </p:sp>
      <p:sp>
        <p:nvSpPr>
          <p:cNvPr id="4" name="Google Shape;113;p14">
            <a:extLst>
              <a:ext uri="{FF2B5EF4-FFF2-40B4-BE49-F238E27FC236}">
                <a16:creationId xmlns:a16="http://schemas.microsoft.com/office/drawing/2014/main" id="{FD99E73C-29CA-F729-85B5-BF6D062B571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Tree>
    <p:extLst>
      <p:ext uri="{BB962C8B-B14F-4D97-AF65-F5344CB8AC3E}">
        <p14:creationId xmlns:p14="http://schemas.microsoft.com/office/powerpoint/2010/main" val="610667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a:spLocks noGrp="1"/>
          </p:cNvSpPr>
          <p:nvPr>
            <p:ph type="title"/>
          </p:nvPr>
        </p:nvSpPr>
        <p:spPr>
          <a:xfrm>
            <a:off x="265545" y="-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endParaRPr/>
          </a:p>
        </p:txBody>
      </p:sp>
      <p:sp>
        <p:nvSpPr>
          <p:cNvPr id="219" name="Google Shape;21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a:t>02-12-2022</a:t>
            </a:r>
            <a:endParaRPr/>
          </a:p>
        </p:txBody>
      </p:sp>
      <p:sp>
        <p:nvSpPr>
          <p:cNvPr id="220" name="Google Shape;22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Project Title | Department of Information Science and Engineering</a:t>
            </a:r>
            <a:endParaRPr/>
          </a:p>
        </p:txBody>
      </p:sp>
      <p:sp>
        <p:nvSpPr>
          <p:cNvPr id="221" name="Google Shape;22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
        <p:nvSpPr>
          <p:cNvPr id="222" name="Google Shape;222;p26"/>
          <p:cNvSpPr/>
          <p:nvPr/>
        </p:nvSpPr>
        <p:spPr>
          <a:xfrm>
            <a:off x="0" y="-3"/>
            <a:ext cx="12192000" cy="6858003"/>
          </a:xfrm>
          <a:prstGeom prst="rect">
            <a:avLst/>
          </a:prstGeom>
          <a:solidFill>
            <a:srgbClr val="00206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23" name="Google Shape;223;p26"/>
          <p:cNvPicPr preferRelativeResize="0">
            <a:picLocks noGrp="1"/>
          </p:cNvPicPr>
          <p:nvPr>
            <p:ph type="body" idx="1"/>
          </p:nvPr>
        </p:nvPicPr>
        <p:blipFill rotWithShape="1">
          <a:blip r:embed="rId3">
            <a:alphaModFix amt="20000"/>
          </a:blip>
          <a:srcRect/>
          <a:stretch/>
        </p:blipFill>
        <p:spPr>
          <a:xfrm>
            <a:off x="3952875" y="1574800"/>
            <a:ext cx="4351338" cy="4351338"/>
          </a:xfrm>
          <a:prstGeom prst="rect">
            <a:avLst/>
          </a:prstGeom>
          <a:noFill/>
          <a:ln>
            <a:noFill/>
          </a:ln>
        </p:spPr>
      </p:pic>
      <p:sp>
        <p:nvSpPr>
          <p:cNvPr id="224" name="Google Shape;224;p26"/>
          <p:cNvSpPr txBox="1"/>
          <p:nvPr/>
        </p:nvSpPr>
        <p:spPr>
          <a:xfrm>
            <a:off x="3303948" y="2864016"/>
            <a:ext cx="5649191"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9600" b="0" i="0" u="none" strike="noStrike" cap="none">
                <a:solidFill>
                  <a:schemeClr val="lt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2874</Words>
  <Application>Microsoft Office PowerPoint</Application>
  <PresentationFormat>Widescreen</PresentationFormat>
  <Paragraphs>224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Department of Information Science and Engineering</vt:lpstr>
      <vt:lpstr>Contents</vt:lpstr>
      <vt:lpstr>Introduction</vt:lpstr>
      <vt:lpstr>Introduction</vt:lpstr>
      <vt:lpstr>Literature Survey</vt:lpstr>
      <vt:lpstr>Literature Survey</vt:lpstr>
      <vt:lpstr>Literature Survey</vt:lpstr>
      <vt:lpstr>Literature Survey</vt:lpstr>
      <vt:lpstr>Gaps and Motivation</vt:lpstr>
      <vt:lpstr>Problem Statement</vt:lpstr>
      <vt:lpstr>Objectives</vt:lpstr>
      <vt:lpstr>Methodology</vt:lpstr>
      <vt:lpstr>Methodology</vt:lpstr>
      <vt:lpstr>Methodology</vt:lpstr>
      <vt:lpstr>Methodology</vt:lpstr>
      <vt:lpstr>Architecture</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Surendra Tripathi</dc:creator>
  <cp:lastModifiedBy>Surendra Tripathi</cp:lastModifiedBy>
  <cp:revision>2</cp:revision>
  <dcterms:modified xsi:type="dcterms:W3CDTF">2026-06-03T16:52:10Z</dcterms:modified>
</cp:coreProperties>
</file>